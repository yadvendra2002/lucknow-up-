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5.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76" r:id="rId6"/>
    <p:sldId id="279" r:id="rId7"/>
    <p:sldId id="260" r:id="rId8"/>
    <p:sldId id="261" r:id="rId9"/>
    <p:sldId id="262" r:id="rId10"/>
    <p:sldId id="263" r:id="rId11"/>
    <p:sldId id="278" r:id="rId12"/>
    <p:sldId id="264" r:id="rId13"/>
    <p:sldId id="277" r:id="rId14"/>
    <p:sldId id="265" r:id="rId15"/>
    <p:sldId id="266" r:id="rId16"/>
    <p:sldId id="267" r:id="rId17"/>
    <p:sldId id="268" r:id="rId18"/>
    <p:sldId id="269" r:id="rId19"/>
    <p:sldId id="270" r:id="rId20"/>
    <p:sldId id="271" r:id="rId21"/>
    <p:sldId id="272" r:id="rId22"/>
    <p:sldId id="273" r:id="rId23"/>
    <p:sldId id="274" r:id="rId24"/>
    <p:sldId id="275"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0484C2E-723D-B74F-586F-0F5F37AC939D}">
          <p14:sldIdLst>
            <p14:sldId id="256"/>
            <p14:sldId id="257"/>
            <p14:sldId id="258"/>
          </p14:sldIdLst>
        </p14:section>
        <p14:section name="Data and method" id="{37159559-AAFA-D426-3D4B-086273175C9D}">
          <p14:sldIdLst>
            <p14:sldId id="259"/>
            <p14:sldId id="276"/>
            <p14:sldId id="279"/>
            <p14:sldId id="260"/>
            <p14:sldId id="261"/>
          </p14:sldIdLst>
        </p14:section>
        <p14:section name="Results" id="{EE50D5F8-7734-C49E-E989-BA97AAAEF046}">
          <p14:sldIdLst>
            <p14:sldId id="262"/>
            <p14:sldId id="263"/>
            <p14:sldId id="278"/>
            <p14:sldId id="264"/>
            <p14:sldId id="277"/>
            <p14:sldId id="265"/>
            <p14:sldId id="266"/>
            <p14:sldId id="267"/>
            <p14:sldId id="268"/>
            <p14:sldId id="269"/>
            <p14:sldId id="270"/>
            <p14:sldId id="271"/>
            <p14:sldId id="272"/>
          </p14:sldIdLst>
        </p14:section>
        <p14:section name="Discussion" id="{2F7BC359-3104-27C4-0BD8-02C5923D97AD}">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B2F"/>
                </a:solidFill>
                <a:latin typeface="+mn-lt"/>
              </a:defRPr>
            </a:pPr>
            <a:r>
              <a:rPr lang="en-US" sz="1400" b="0" i="0" u="none" strike="noStrike">
                <a:solidFill>
                  <a:srgbClr val="1B1B2F"/>
                </a:solidFill>
                <a:latin typeface="+mn-lt"/>
              </a:rPr>
              <a:t>Total built-up surface by epoch (km²)</a:t>
            </a:r>
          </a:p>
        </c:rich>
      </c:tx>
      <c:overlay val="0"/>
    </c:title>
    <c:autoTitleDeleted val="0"/>
    <c:plotArea>
      <c:layout/>
      <c:barChart>
        <c:barDir val="col"/>
        <c:grouping val="clustered"/>
        <c:varyColors val="0"/>
        <c:ser>
          <c:idx val="0"/>
          <c:order val="0"/>
          <c:tx>
            <c:strRef>
              <c:f>Sheet1!$B$1</c:f>
              <c:strCache>
                <c:ptCount val="1"/>
                <c:pt idx="0">
                  <c:v>Total built-up (km²)</c:v>
                </c:pt>
              </c:strCache>
            </c:strRef>
          </c:tx>
          <c:spPr>
            <a:solidFill>
              <a:srgbClr val="D9381E"/>
            </a:solidFill>
            <a:effectLst/>
          </c:spPr>
          <c:invertIfNegative val="0"/>
          <c:dLbls>
            <c:numFmt formatCode="0.0" sourceLinked="0"/>
            <c:spPr>
              <a:noFill/>
              <a:ln>
                <a:noFill/>
              </a:ln>
              <a:effectLst/>
            </c:spPr>
            <c:txPr>
              <a:bodyPr/>
              <a:lstStyle/>
              <a:p>
                <a:pPr>
                  <a:defRPr sz="1200" b="0" i="0" u="none" strike="noStrike">
                    <a:solidFill>
                      <a:srgbClr val="1B1B2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2000</c:v>
                </c:pt>
                <c:pt idx="1">
                  <c:v>2005</c:v>
                </c:pt>
                <c:pt idx="2">
                  <c:v>2010</c:v>
                </c:pt>
                <c:pt idx="3">
                  <c:v>2015</c:v>
                </c:pt>
                <c:pt idx="4">
                  <c:v>2020</c:v>
                </c:pt>
              </c:strCache>
            </c:strRef>
          </c:cat>
          <c:val>
            <c:numRef>
              <c:f>Sheet1!$B$2:$B$6</c:f>
              <c:numCache>
                <c:formatCode>General</c:formatCode>
                <c:ptCount val="5"/>
                <c:pt idx="0">
                  <c:v>55.42</c:v>
                </c:pt>
                <c:pt idx="1">
                  <c:v>60.58</c:v>
                </c:pt>
                <c:pt idx="2">
                  <c:v>67.099999999999994</c:v>
                </c:pt>
                <c:pt idx="3">
                  <c:v>73.78</c:v>
                </c:pt>
                <c:pt idx="4">
                  <c:v>78.08</c:v>
                </c:pt>
              </c:numCache>
            </c:numRef>
          </c:val>
          <c:extLst>
            <c:ext xmlns:c16="http://schemas.microsoft.com/office/drawing/2014/chart" uri="{C3380CC4-5D6E-409C-BE32-E72D297353CC}">
              <c16:uniqueId val="{00000000-7F0E-4BF8-AE82-2A4647AC159B}"/>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55"/>
                </a:solidFill>
                <a:latin typeface="+mn-lt"/>
              </a:defRPr>
            </a:pPr>
            <a:endParaRPr lang="en-US"/>
          </a:p>
        </c:txPr>
        <c:crossAx val="2094734552"/>
        <c:crosses val="autoZero"/>
        <c:auto val="1"/>
        <c:lblAlgn val="ctr"/>
        <c:lblOffset val="100"/>
        <c:noMultiLvlLbl val="1"/>
      </c:catAx>
      <c:valAx>
        <c:axId val="2094734552"/>
        <c:scaling>
          <c:orientation val="minMax"/>
          <c:max val="90"/>
          <c:min val="0"/>
        </c:scaling>
        <c:delete val="0"/>
        <c:axPos val="l"/>
        <c:majorGridlines>
          <c:spPr>
            <a:ln w="9525" cap="flat">
              <a:solidFill>
                <a:srgbClr val="E3E1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55"/>
                </a:solidFill>
                <a:latin typeface="+mn-lt"/>
              </a:defRPr>
            </a:pPr>
            <a:endParaRPr lang="en-US"/>
          </a:p>
        </c:txPr>
        <c:crossAx val="2094734554"/>
        <c:crosses val="autoZero"/>
        <c:crossBetween val="between"/>
        <c:majorUnit val="3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B2F"/>
                </a:solidFill>
                <a:latin typeface="+mn-lt"/>
              </a:defRPr>
            </a:pPr>
            <a:r>
              <a:rPr lang="en-US" sz="1400" b="0" i="0" u="none" strike="noStrike">
                <a:solidFill>
                  <a:srgbClr val="1B1B2F"/>
                </a:solidFill>
                <a:latin typeface="+mn-lt"/>
              </a:rPr>
              <a:t>Built-up surface added per interval (km²)</a:t>
            </a:r>
          </a:p>
        </c:rich>
      </c:tx>
      <c:overlay val="0"/>
    </c:title>
    <c:autoTitleDeleted val="0"/>
    <c:plotArea>
      <c:layout/>
      <c:barChart>
        <c:barDir val="col"/>
        <c:grouping val="clustered"/>
        <c:varyColors val="0"/>
        <c:ser>
          <c:idx val="0"/>
          <c:order val="0"/>
          <c:tx>
            <c:strRef>
              <c:f>Sheet1!$B$1</c:f>
              <c:strCache>
                <c:ptCount val="1"/>
                <c:pt idx="0">
                  <c:v>Added (km²)</c:v>
                </c:pt>
              </c:strCache>
            </c:strRef>
          </c:tx>
          <c:spPr>
            <a:solidFill>
              <a:srgbClr val="F28E2B"/>
            </a:solidFill>
            <a:effectLst/>
          </c:spPr>
          <c:invertIfNegative val="0"/>
          <c:dLbls>
            <c:numFmt formatCode="0.00" sourceLinked="0"/>
            <c:spPr>
              <a:noFill/>
              <a:ln>
                <a:noFill/>
              </a:ln>
              <a:effectLst/>
            </c:spPr>
            <c:txPr>
              <a:bodyPr/>
              <a:lstStyle/>
              <a:p>
                <a:pPr>
                  <a:defRPr sz="1200" b="0" i="0" u="none" strike="noStrike">
                    <a:solidFill>
                      <a:srgbClr val="1B1B2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2000–05</c:v>
                </c:pt>
                <c:pt idx="1">
                  <c:v>2005–10</c:v>
                </c:pt>
                <c:pt idx="2">
                  <c:v>2010–15</c:v>
                </c:pt>
                <c:pt idx="3">
                  <c:v>2015–20</c:v>
                </c:pt>
              </c:strCache>
            </c:strRef>
          </c:cat>
          <c:val>
            <c:numRef>
              <c:f>Sheet1!$B$2:$B$5</c:f>
              <c:numCache>
                <c:formatCode>General</c:formatCode>
                <c:ptCount val="4"/>
                <c:pt idx="0">
                  <c:v>5.16</c:v>
                </c:pt>
                <c:pt idx="1">
                  <c:v>6.52</c:v>
                </c:pt>
                <c:pt idx="2">
                  <c:v>6.68</c:v>
                </c:pt>
                <c:pt idx="3">
                  <c:v>4.3</c:v>
                </c:pt>
              </c:numCache>
            </c:numRef>
          </c:val>
          <c:extLst>
            <c:ext xmlns:c16="http://schemas.microsoft.com/office/drawing/2014/chart" uri="{C3380CC4-5D6E-409C-BE32-E72D297353CC}">
              <c16:uniqueId val="{00000000-24BD-482A-99B6-900ACF2B6D49}"/>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55"/>
                </a:solidFill>
                <a:latin typeface="+mn-lt"/>
              </a:defRPr>
            </a:pPr>
            <a:endParaRPr lang="en-US"/>
          </a:p>
        </c:txPr>
        <c:crossAx val="2094734552"/>
        <c:crosses val="autoZero"/>
        <c:auto val="1"/>
        <c:lblAlgn val="ctr"/>
        <c:lblOffset val="100"/>
        <c:noMultiLvlLbl val="1"/>
      </c:catAx>
      <c:valAx>
        <c:axId val="2094734552"/>
        <c:scaling>
          <c:orientation val="minMax"/>
          <c:max val="8"/>
          <c:min val="0"/>
        </c:scaling>
        <c:delete val="0"/>
        <c:axPos val="l"/>
        <c:majorGridlines>
          <c:spPr>
            <a:ln w="9525" cap="flat">
              <a:solidFill>
                <a:srgbClr val="E3E1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55"/>
                </a:solidFill>
                <a:latin typeface="+mn-lt"/>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B2F"/>
                </a:solidFill>
                <a:latin typeface="+mn-lt"/>
              </a:defRPr>
            </a:pPr>
            <a:r>
              <a:rPr lang="en-US" sz="1400" b="0" i="0" u="none" strike="noStrike">
                <a:solidFill>
                  <a:srgbClr val="1B1B2F"/>
                </a:solidFill>
                <a:latin typeface="+mn-lt"/>
              </a:rPr>
              <a:t>Non-residential share of built-up surface (%)</a:t>
            </a:r>
          </a:p>
        </c:rich>
      </c:tx>
      <c:overlay val="0"/>
    </c:title>
    <c:autoTitleDeleted val="0"/>
    <c:plotArea>
      <c:layout/>
      <c:barChart>
        <c:barDir val="col"/>
        <c:grouping val="clustered"/>
        <c:varyColors val="0"/>
        <c:ser>
          <c:idx val="0"/>
          <c:order val="0"/>
          <c:tx>
            <c:strRef>
              <c:f>Sheet1!$B$1</c:f>
              <c:strCache>
                <c:ptCount val="1"/>
                <c:pt idx="0">
                  <c:v>Non-residential share (%)</c:v>
                </c:pt>
              </c:strCache>
            </c:strRef>
          </c:tx>
          <c:spPr>
            <a:solidFill>
              <a:srgbClr val="6A3D9A"/>
            </a:solidFill>
            <a:effectLst/>
          </c:spPr>
          <c:invertIfNegative val="0"/>
          <c:dLbls>
            <c:numFmt formatCode="0.00" sourceLinked="0"/>
            <c:spPr>
              <a:noFill/>
              <a:ln>
                <a:noFill/>
              </a:ln>
              <a:effectLst/>
            </c:spPr>
            <c:txPr>
              <a:bodyPr/>
              <a:lstStyle/>
              <a:p>
                <a:pPr>
                  <a:defRPr sz="1200" b="0" i="0" u="none" strike="noStrike">
                    <a:solidFill>
                      <a:srgbClr val="1B1B2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2000</c:v>
                </c:pt>
                <c:pt idx="1">
                  <c:v>2005</c:v>
                </c:pt>
                <c:pt idx="2">
                  <c:v>2010</c:v>
                </c:pt>
                <c:pt idx="3">
                  <c:v>2015</c:v>
                </c:pt>
                <c:pt idx="4">
                  <c:v>2020</c:v>
                </c:pt>
              </c:strCache>
            </c:strRef>
          </c:cat>
          <c:val>
            <c:numRef>
              <c:f>Sheet1!$B$2:$B$6</c:f>
              <c:numCache>
                <c:formatCode>General</c:formatCode>
                <c:ptCount val="5"/>
                <c:pt idx="0">
                  <c:v>3.46</c:v>
                </c:pt>
                <c:pt idx="1">
                  <c:v>3.43</c:v>
                </c:pt>
                <c:pt idx="2">
                  <c:v>3.38</c:v>
                </c:pt>
                <c:pt idx="3">
                  <c:v>3.35</c:v>
                </c:pt>
                <c:pt idx="4">
                  <c:v>3.3</c:v>
                </c:pt>
              </c:numCache>
            </c:numRef>
          </c:val>
          <c:extLst>
            <c:ext xmlns:c16="http://schemas.microsoft.com/office/drawing/2014/chart" uri="{C3380CC4-5D6E-409C-BE32-E72D297353CC}">
              <c16:uniqueId val="{00000000-3664-40BE-AF38-A489F5B6D570}"/>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55"/>
                </a:solidFill>
                <a:latin typeface="+mn-lt"/>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9525" cap="flat">
              <a:solidFill>
                <a:srgbClr val="E3E1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55"/>
                </a:solidFill>
                <a:latin typeface="+mn-lt"/>
              </a:defRPr>
            </a:pPr>
            <a:endParaRPr lang="en-US"/>
          </a:p>
        </c:txPr>
        <c:crossAx val="209473455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B2F"/>
                </a:solidFill>
                <a:latin typeface="+mn-lt"/>
              </a:defRPr>
            </a:pPr>
            <a:r>
              <a:rPr lang="en-IN" sz="1400" b="0" i="0" u="none" strike="noStrike">
                <a:solidFill>
                  <a:srgbClr val="1B1B2F"/>
                </a:solidFill>
                <a:latin typeface="+mn-lt"/>
              </a:rPr>
              <a:t>Index, 2000 = 100</a:t>
            </a:r>
          </a:p>
        </c:rich>
      </c:tx>
      <c:overlay val="0"/>
    </c:title>
    <c:autoTitleDeleted val="0"/>
    <c:plotArea>
      <c:layout/>
      <c:lineChart>
        <c:grouping val="standard"/>
        <c:varyColors val="0"/>
        <c:ser>
          <c:idx val="0"/>
          <c:order val="0"/>
          <c:tx>
            <c:strRef>
              <c:f>Sheet1!$B$1</c:f>
              <c:strCache>
                <c:ptCount val="1"/>
                <c:pt idx="0">
                  <c:v>Total built-up</c:v>
                </c:pt>
              </c:strCache>
            </c:strRef>
          </c:tx>
          <c:spPr>
            <a:ln w="38100" cap="flat">
              <a:solidFill>
                <a:srgbClr val="D9381E"/>
              </a:solidFill>
              <a:prstDash val="solid"/>
              <a:round/>
            </a:ln>
            <a:effectLst/>
          </c:spPr>
          <c:marker>
            <c:symbol val="circle"/>
            <c:size val="9"/>
            <c:spPr>
              <a:solidFill>
                <a:srgbClr val="D9381E"/>
              </a:solidFill>
              <a:ln w="9525" cap="flat">
                <a:solidFill>
                  <a:srgbClr val="D9381E"/>
                </a:solidFill>
                <a:prstDash val="solid"/>
                <a:round/>
              </a:ln>
              <a:effectLst/>
            </c:spPr>
          </c:marker>
          <c:cat>
            <c:strRef>
              <c:f>Sheet1!$A$2:$A$6</c:f>
              <c:strCache>
                <c:ptCount val="5"/>
                <c:pt idx="0">
                  <c:v>2000</c:v>
                </c:pt>
                <c:pt idx="1">
                  <c:v>2005</c:v>
                </c:pt>
                <c:pt idx="2">
                  <c:v>2010</c:v>
                </c:pt>
                <c:pt idx="3">
                  <c:v>2015</c:v>
                </c:pt>
                <c:pt idx="4">
                  <c:v>2020</c:v>
                </c:pt>
              </c:strCache>
            </c:strRef>
          </c:cat>
          <c:val>
            <c:numRef>
              <c:f>Sheet1!$B$2:$B$6</c:f>
              <c:numCache>
                <c:formatCode>General</c:formatCode>
                <c:ptCount val="5"/>
                <c:pt idx="0">
                  <c:v>100</c:v>
                </c:pt>
                <c:pt idx="1">
                  <c:v>109.3</c:v>
                </c:pt>
                <c:pt idx="2">
                  <c:v>121.1</c:v>
                </c:pt>
                <c:pt idx="3">
                  <c:v>133.1</c:v>
                </c:pt>
                <c:pt idx="4">
                  <c:v>140.9</c:v>
                </c:pt>
              </c:numCache>
            </c:numRef>
          </c:val>
          <c:smooth val="0"/>
          <c:extLst>
            <c:ext xmlns:c16="http://schemas.microsoft.com/office/drawing/2014/chart" uri="{C3380CC4-5D6E-409C-BE32-E72D297353CC}">
              <c16:uniqueId val="{00000000-99F9-44FB-9CE0-1A981482520A}"/>
            </c:ext>
          </c:extLst>
        </c:ser>
        <c:ser>
          <c:idx val="1"/>
          <c:order val="1"/>
          <c:tx>
            <c:strRef>
              <c:f>Sheet1!$C$1</c:f>
              <c:strCache>
                <c:ptCount val="1"/>
                <c:pt idx="0">
                  <c:v>Non-residential</c:v>
                </c:pt>
              </c:strCache>
            </c:strRef>
          </c:tx>
          <c:spPr>
            <a:ln w="38100" cap="flat">
              <a:solidFill>
                <a:srgbClr val="6A3D9A"/>
              </a:solidFill>
              <a:prstDash val="solid"/>
              <a:round/>
            </a:ln>
            <a:effectLst/>
          </c:spPr>
          <c:marker>
            <c:symbol val="circle"/>
            <c:size val="9"/>
            <c:spPr>
              <a:solidFill>
                <a:srgbClr val="6A3D9A"/>
              </a:solidFill>
              <a:ln w="9525" cap="flat">
                <a:solidFill>
                  <a:srgbClr val="6A3D9A"/>
                </a:solidFill>
                <a:prstDash val="solid"/>
                <a:round/>
              </a:ln>
              <a:effectLst/>
            </c:spPr>
          </c:marker>
          <c:cat>
            <c:strRef>
              <c:f>Sheet1!$A$2:$A$6</c:f>
              <c:strCache>
                <c:ptCount val="5"/>
                <c:pt idx="0">
                  <c:v>2000</c:v>
                </c:pt>
                <c:pt idx="1">
                  <c:v>2005</c:v>
                </c:pt>
                <c:pt idx="2">
                  <c:v>2010</c:v>
                </c:pt>
                <c:pt idx="3">
                  <c:v>2015</c:v>
                </c:pt>
                <c:pt idx="4">
                  <c:v>2020</c:v>
                </c:pt>
              </c:strCache>
            </c:strRef>
          </c:cat>
          <c:val>
            <c:numRef>
              <c:f>Sheet1!$C$2:$C$6</c:f>
              <c:numCache>
                <c:formatCode>General</c:formatCode>
                <c:ptCount val="5"/>
                <c:pt idx="0">
                  <c:v>100</c:v>
                </c:pt>
                <c:pt idx="1">
                  <c:v>108.4</c:v>
                </c:pt>
                <c:pt idx="2">
                  <c:v>118.2</c:v>
                </c:pt>
                <c:pt idx="3">
                  <c:v>128.69999999999999</c:v>
                </c:pt>
                <c:pt idx="4">
                  <c:v>134.4</c:v>
                </c:pt>
              </c:numCache>
            </c:numRef>
          </c:val>
          <c:smooth val="0"/>
          <c:extLst>
            <c:ext xmlns:c16="http://schemas.microsoft.com/office/drawing/2014/chart" uri="{C3380CC4-5D6E-409C-BE32-E72D297353CC}">
              <c16:uniqueId val="{00000001-99F9-44FB-9CE0-1A981482520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55"/>
                </a:solidFill>
                <a:latin typeface="+mn-lt"/>
              </a:defRPr>
            </a:pPr>
            <a:endParaRPr lang="en-US"/>
          </a:p>
        </c:txPr>
        <c:crossAx val="2094734552"/>
        <c:crosses val="autoZero"/>
        <c:auto val="1"/>
        <c:lblAlgn val="ctr"/>
        <c:lblOffset val="100"/>
        <c:noMultiLvlLbl val="1"/>
      </c:catAx>
      <c:valAx>
        <c:axId val="2094734552"/>
        <c:scaling>
          <c:orientation val="minMax"/>
          <c:max val="150"/>
          <c:min val="90"/>
        </c:scaling>
        <c:delete val="0"/>
        <c:axPos val="l"/>
        <c:majorGridlines>
          <c:spPr>
            <a:ln w="9525" cap="flat">
              <a:solidFill>
                <a:srgbClr val="E3E1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55"/>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B2F"/>
                </a:solidFill>
                <a:latin typeface="+mn-lt"/>
              </a:defRPr>
            </a:pPr>
            <a:r>
              <a:rPr lang="en-US" sz="1400" b="0" i="0" u="none" strike="noStrike">
                <a:solidFill>
                  <a:srgbClr val="1B1B2F"/>
                </a:solidFill>
                <a:latin typeface="+mn-lt"/>
              </a:rPr>
              <a:t>Built-up surface added per interval, district (km²)</a:t>
            </a:r>
          </a:p>
        </c:rich>
      </c:tx>
      <c:overlay val="0"/>
    </c:title>
    <c:autoTitleDeleted val="0"/>
    <c:plotArea>
      <c:layout/>
      <c:barChart>
        <c:barDir val="col"/>
        <c:grouping val="stacked"/>
        <c:varyColors val="0"/>
        <c:ser>
          <c:idx val="0"/>
          <c:order val="0"/>
          <c:tx>
            <c:strRef>
              <c:f>Sheet1!$B$1</c:f>
              <c:strCache>
                <c:ptCount val="1"/>
                <c:pt idx="0">
                  <c:v>Inside city</c:v>
                </c:pt>
              </c:strCache>
            </c:strRef>
          </c:tx>
          <c:spPr>
            <a:solidFill>
              <a:srgbClr val="D9381E"/>
            </a:solidFill>
            <a:effectLst/>
          </c:spPr>
          <c:invertIfNegative val="0"/>
          <c:dLbls>
            <c:numFmt formatCode="0.0" sourceLinked="0"/>
            <c:spPr>
              <a:noFill/>
              <a:ln>
                <a:noFill/>
              </a:ln>
              <a:effectLst/>
            </c:spPr>
            <c:txPr>
              <a:bodyPr/>
              <a:lstStyle/>
              <a:p>
                <a:pPr>
                  <a:defRPr sz="12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2000–05</c:v>
                </c:pt>
                <c:pt idx="1">
                  <c:v>2005–10</c:v>
                </c:pt>
                <c:pt idx="2">
                  <c:v>2010–15</c:v>
                </c:pt>
                <c:pt idx="3">
                  <c:v>2015–20</c:v>
                </c:pt>
              </c:strCache>
            </c:strRef>
          </c:cat>
          <c:val>
            <c:numRef>
              <c:f>Sheet1!$B$2:$B$5</c:f>
              <c:numCache>
                <c:formatCode>General</c:formatCode>
                <c:ptCount val="4"/>
                <c:pt idx="0">
                  <c:v>5.16</c:v>
                </c:pt>
                <c:pt idx="1">
                  <c:v>6.52</c:v>
                </c:pt>
                <c:pt idx="2">
                  <c:v>6.68</c:v>
                </c:pt>
                <c:pt idx="3">
                  <c:v>4.3</c:v>
                </c:pt>
              </c:numCache>
            </c:numRef>
          </c:val>
          <c:extLst>
            <c:ext xmlns:c16="http://schemas.microsoft.com/office/drawing/2014/chart" uri="{C3380CC4-5D6E-409C-BE32-E72D297353CC}">
              <c16:uniqueId val="{00000000-6492-4D56-8555-0A231E183F4E}"/>
            </c:ext>
          </c:extLst>
        </c:ser>
        <c:ser>
          <c:idx val="1"/>
          <c:order val="1"/>
          <c:tx>
            <c:strRef>
              <c:f>Sheet1!$C$1</c:f>
              <c:strCache>
                <c:ptCount val="1"/>
                <c:pt idx="0">
                  <c:v>Outside city (district minus city)</c:v>
                </c:pt>
              </c:strCache>
            </c:strRef>
          </c:tx>
          <c:spPr>
            <a:solidFill>
              <a:srgbClr val="2F7F95"/>
            </a:solidFill>
            <a:effectLst/>
          </c:spPr>
          <c:invertIfNegative val="0"/>
          <c:dLbls>
            <c:numFmt formatCode="0.0" sourceLinked="0"/>
            <c:spPr>
              <a:noFill/>
              <a:ln>
                <a:noFill/>
              </a:ln>
              <a:effectLst/>
            </c:spPr>
            <c:txPr>
              <a:bodyPr/>
              <a:lstStyle/>
              <a:p>
                <a:pPr>
                  <a:defRPr sz="12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2000–05</c:v>
                </c:pt>
                <c:pt idx="1">
                  <c:v>2005–10</c:v>
                </c:pt>
                <c:pt idx="2">
                  <c:v>2010–15</c:v>
                </c:pt>
                <c:pt idx="3">
                  <c:v>2015–20</c:v>
                </c:pt>
              </c:strCache>
            </c:strRef>
          </c:cat>
          <c:val>
            <c:numRef>
              <c:f>Sheet1!$C$2:$C$5</c:f>
              <c:numCache>
                <c:formatCode>General</c:formatCode>
                <c:ptCount val="4"/>
                <c:pt idx="0">
                  <c:v>4.33</c:v>
                </c:pt>
                <c:pt idx="1">
                  <c:v>6.02</c:v>
                </c:pt>
                <c:pt idx="2">
                  <c:v>11.88</c:v>
                </c:pt>
                <c:pt idx="3">
                  <c:v>32.549999999999997</c:v>
                </c:pt>
              </c:numCache>
            </c:numRef>
          </c:val>
          <c:extLst>
            <c:ext xmlns:c16="http://schemas.microsoft.com/office/drawing/2014/chart" uri="{C3380CC4-5D6E-409C-BE32-E72D297353CC}">
              <c16:uniqueId val="{00000001-6492-4D56-8555-0A231E183F4E}"/>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55"/>
                </a:solidFill>
                <a:latin typeface="+mn-lt"/>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E3E1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55"/>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3226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answers Question 2 for Lucknow (Row 9): compare changes in total built-up surface and predominantly non-residential built-up surface, using GHSL Built-up Surface for 2000–2020. The map on the right shows the 2020 built-up surface inside the Lucknow municipal boundary.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assigned analysis is: compare changes in total built-up surface and predominant non-residential built-up surface (GHSL, 2000–2020). Required outputs are a time slider or GIF, total vs non-residential change maps or graph, and a discussion. The table on the right maps every assignment requirement to the slide where it is answered.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for the Lucknow Municipal Corporation polygon (277.3 km2). Total built-up surface grew 40.9 percent. Non-residential built-up surface grew 34.4 percent, slightly slower, so its share of built-up surface slipped from 3.46 to 3.30 percent. Built-up surface now covers 28.2 percent of the city area, up from 20.0 percent. The district-level growth is much larger and is discussed on the later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analysis uses the Lucknow Municipal Corporation polygon from the Indian Urban Local Body boundaries (Swachh Bharat Mission data, released by ramSeraph / DataMeet under CC0). Its area is 277.3 km2. The file was filtered to the Lucknow M.Corp row, dissolved to one polygon, reprojected to WGS84, repaired with make_valid and converted to an Earth Engine FeatureCollection with geemap. The FAO GAUL 2015 district polygon (about 2,530 km2) is used only for context, to see growth beyond the city limits. The two boundaries come from different sources, so city and district results are compared but not simply added.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GHS-BUILT-S R2023A estimates the built-up surface in square metres inside every 100 m grid cell, so the maximum value of a cell is 10,000 m2. built_surface is the total. built_surface_nres is the part of it in cells where the predominant use is non-residential. Residential surface is not provided directly, so it is computed as total minus non-residential, which makes it a residual that also contains any other uses. Epochs are every five years; the five used here are 2000, 2005, 2010, 2015 and 2020.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in the notebook. The same filters and the same colour scales are used for every epoch so the maps are comparable. Statistics are sums of the 100 m cells inside the boundary, converted from square metres to square kilometres. No visual change is interpreted without a number next to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 of GHSL built-up surface inside the municipal polygon. Total built-up surface rose in every epoch, from 55.42 km2 in 2000 to 78.08 km2 in 2020. Non-residential surface rose from 1.92 to 2.58 km2. Residential is the residual. Built-up surface covers 28.2 percent of the city area in 2020 compared with 20.0 percent in 2000.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total built-up surface by epoch. Right: the area added in each five-year interval. The largest addition was 2010–2015 at 6.68 km2 and the smallest was 2015–2020 at 4.30 km2, a growth of 5.8 percent compared with about 10 percent in earlier intervals. Inside the municipal boundary the pace therefore slowed after 2015.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Predominantly non-residential built-up surface grew from 1.92 to 2.58 km2, which is 34.4 percent. Because total built-up surface grew faster, the non-residential share drifted down from 3.46 to 3.30 percent, a fall of 0.16 percentage points. Non-residential surface supplied only 2.9 percent of the new built-up surface between 2000 and 2020, and the interval shares were between 2.5 and 3.1 percent.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 chart with 2000 equal to 100. By 2020 total built-up surface reached 140.9 and non-residential surface 134.4, so the lines diverge steadily. The table compares the two layers. Total built-up grew at 1.73 percent per year and non-residential at 1.49 percent per year. Non-residential growth is therefore about 0.84 times the total growth rate, measured in percent change.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maps show the Lucknow district (about 2,530 km2) so that the surrounding settlements are visible. Top row is total built-up surface and bottom row is non-residential, for 2000, 2005, 2010, 2015 and 2020. All panels use the same 0 to 10,000 square metres per cell colour scale. The dense core exists in 2000 and spreads outward, while villages and small settlements fill in across the district. The non-residential row stays sparse and concentrated near the centre.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animated GIF cycles through the five epochs on a fixed colour scale, so changes in colour are real changes and not rescaling. The webpage also has an HTML time slider. Intermediate years in the yearly animation are interpolated between the five-year epochs, so they are illustrative and not independent observations. The GIF plays in slideshow mode.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Built-up surface gain from 2000 to 2020 summed in 2 km by 2 km cells inside the municipal polygon. Each grid cell is 4 km2 so the largest gain of about 1.1 km2 means roughly a quarter of the cell was newly built. The largest gains are in the north-central part and the east of the city, with moderate gains in the west and the south along the edge of the dense core. Much of the central core was already built in 2000, which suggests growth is a mix of infill and edge expansion.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maps use the same minus 3,000 to plus 3,000 square metres per cell scale so the comparison is fair. Red is a gain and blue is a loss. The total map shows strong gains around the city core and edges with scattered gains across the district. The non-residential map is almost empty: gains are limited to a few clusters. For the district the totals are +77.4 km2 total versus +0.89 km2 non-residential. No cell lost built-up surface in this comparison.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Statistics of the change in built-up surface per 100 m cell inside the municipal polygon. The mean gain per cell is 813 square metres for total built-up surface and only 24 square metres for non-residential. About 138 km2, roughly half of the 277 km2 city area, lies in cells that gained at least 100 square metres, and 72 km2 in cells that gained at least 1,000 square metres. Only 3.6 km2 of the city gained 5,000 square metres or more per cell, which marks the most intensely transformed cells.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maps show the non-residential share of built-up surface in each cell with at least 1,000 square metres of built-up surface, for 2000 and 2020, in the Lucknow district. Dark green cells are dominated by non-residential use. They form small clusters near the centre and a few outliers, and the pattern changes little between 2000 and 2020. Large non-residential complexes are likely industrial, institutional or commercial, but GHSL does not say which. In the district as a whole the non-residential share fell from 2.72 to 1.92 percent.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district gain in each interval is split into the part inside the municipal polygon and the remainder, computed as district minus city. Inside the city the added area slowed to 4.3 km2 in 2015 to 2020, while outside the city it jumped to about 32.6 km2. The city share of district built-up surface fell from 74 percent in 2000 to 51 percent in 2020. The city captured only 29 percent of the district gain of 77.4 km2. The boundaries come from different sources and the runs differ slightly, so the outside figure is approximate.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Spatial pattern: gains are widespread but strongest in the north-central and eastern parts of the city, with moderate gains along the west and south edges. Temporal change: steady growth with a peak in 2010 to 2015 and slowdown in 2015 to 2020 inside the city, while the district accelerated. Total versus non-residential: both grew, total faster. Non-residential surface is a stable 3 percent of built-up surface and supplies only 2.9 percent of new built-up surface. Every statement here has a number on an earlier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Spatial resolution: a 100 m cell is one hectare, so small buildings and mixed land use are not resolved and boundary cells are counted by their centre. Temporal resolution: only five-year epochs exist and interpolated yearly frames are illustrative. The data are modelled from satellite imagery, so some change may reflect data and method effects, and demolition is not captured because no cell lost built-up surface. Non-residential is a predominant-use class and residential is a residual. Boundaries come from different sources. There was no ground validation. WorldPop is not used in this assignment, so there is no resolution mismatch with a population raster here.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Conclusions: total built-up surface grew 40.9 percent inside the municipal area and doubled in the district; non-residential surface grew more slowly and stays near 3 percent; growth is moving to the periphery. Sources are listed on the right. The code notebook and the webpage link are the two submission items for Question 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5070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554480"/>
            <a:ext cx="6217920" cy="21031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3840480"/>
            <a:ext cx="6217920" cy="146304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txBox="1"/>
          <p:nvPr/>
        </p:nvSpPr>
        <p:spPr>
          <a:xfrm>
            <a:off x="548640" y="6446520"/>
            <a:ext cx="8229600" cy="274320"/>
          </a:xfrm>
          <a:prstGeom prst="rect">
            <a:avLst/>
          </a:prstGeom>
          <a:noFill/>
          <a:ln/>
        </p:spPr>
        <p:txBody>
          <a:bodyPr wrap="square" lIns="0" tIns="0" rIns="0" bIns="0" rtlCol="0" anchor="ctr"/>
          <a:lstStyle/>
          <a:p>
            <a:pPr marL="0" indent="0">
              <a:buNone/>
            </a:pPr>
            <a:r>
              <a:rPr lang="en-US" sz="1000" dirty="0">
                <a:solidFill>
                  <a:schemeClr val="accent6"/>
                </a:solidFill>
              </a:rPr>
              <a:t>Lucknow  |  JRC GHSL GHS-BUILT-S R2023A  |  HS524M Test 2, Question 2</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5070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txBox="1"/>
          <p:nvPr/>
        </p:nvSpPr>
        <p:spPr>
          <a:xfrm>
            <a:off x="548640" y="6446520"/>
            <a:ext cx="8229600" cy="274320"/>
          </a:xfrm>
          <a:prstGeom prst="rect">
            <a:avLst/>
          </a:prstGeom>
          <a:noFill/>
          <a:ln/>
        </p:spPr>
        <p:txBody>
          <a:bodyPr wrap="square" lIns="0" tIns="0" rIns="0" bIns="0" rtlCol="0" anchor="ctr"/>
          <a:lstStyle/>
          <a:p>
            <a:pPr marL="0" indent="0">
              <a:buNone/>
            </a:pPr>
            <a:r>
              <a:rPr lang="en-US" sz="1000" dirty="0">
                <a:solidFill>
                  <a:schemeClr val="accent6"/>
                </a:solidFill>
              </a:rPr>
              <a:t>Lucknow  |  JRC GHSL GHS-BUILT-S R2023A  |  HS524M Test 2, Question 2</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lucknow_ghsl_statistics.csv"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hyperlink" Target="file:///C:\Users\yadav\Downloads\M.tech%20Final%20Project\Test%202(CE25M414)\lucknow_stats_by_epoch.csv"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58917" y="328930"/>
            <a:ext cx="6217920" cy="2103120"/>
          </a:xfrm>
          <a:prstGeom prst="rect">
            <a:avLst/>
          </a:prstGeom>
          <a:noFill/>
          <a:ln/>
        </p:spPr>
        <p:txBody>
          <a:bodyPr wrap="square" lIns="0" tIns="0" rIns="0" bIns="0" rtlCol="0" anchor="t"/>
          <a:lstStyle/>
          <a:p>
            <a:pPr marL="0" indent="0" algn="l">
              <a:buNone/>
            </a:pPr>
            <a:r>
              <a:rPr lang="en-US" sz="4000" b="1" dirty="0">
                <a:solidFill>
                  <a:schemeClr val="bg1"/>
                </a:solidFill>
              </a:rPr>
              <a:t>Built-up Surface Change in Lucknow, 2000–2020</a:t>
            </a:r>
            <a:endParaRPr lang="en-US" sz="4000" dirty="0"/>
          </a:p>
        </p:txBody>
      </p:sp>
      <p:sp>
        <p:nvSpPr>
          <p:cNvPr id="3" name="Text 0"/>
          <p:cNvSpPr>
            <a:spLocks noGrp="1"/>
          </p:cNvSpPr>
          <p:nvPr>
            <p:ph type="body" idx="101" hasCustomPrompt="1"/>
          </p:nvPr>
        </p:nvSpPr>
        <p:spPr>
          <a:xfrm>
            <a:off x="629505" y="3694431"/>
            <a:ext cx="6217920" cy="1463040"/>
          </a:xfrm>
          <a:prstGeom prst="rect">
            <a:avLst/>
          </a:prstGeom>
          <a:noFill/>
          <a:ln/>
        </p:spPr>
        <p:txBody>
          <a:bodyPr wrap="square" lIns="0" tIns="0" rIns="0" bIns="0" rtlCol="0" anchor="t"/>
          <a:lstStyle/>
          <a:p>
            <a:pPr marL="0" indent="0">
              <a:buNone/>
            </a:pPr>
            <a:r>
              <a:rPr lang="en-US" sz="1800" dirty="0">
                <a:solidFill>
                  <a:schemeClr val="bg2"/>
                </a:solidFill>
              </a:rPr>
              <a:t>Total vs predominantly non-residential built-up surface</a:t>
            </a:r>
            <a:endParaRPr lang="en-US" sz="1800" dirty="0"/>
          </a:p>
          <a:p>
            <a:pPr marL="0" indent="0">
              <a:buNone/>
            </a:pPr>
            <a:r>
              <a:rPr lang="en-US" sz="1800" dirty="0">
                <a:solidFill>
                  <a:schemeClr val="accent4"/>
                </a:solidFill>
              </a:rPr>
              <a:t>JRC GHSL GHS-BUILT-S R2023A on Google Earth Engine</a:t>
            </a:r>
            <a:endParaRPr lang="en-US" sz="1800" dirty="0"/>
          </a:p>
        </p:txBody>
      </p:sp>
      <p:sp>
        <p:nvSpPr>
          <p:cNvPr id="4" name="Text 2"/>
          <p:cNvSpPr txBox="1"/>
          <p:nvPr/>
        </p:nvSpPr>
        <p:spPr>
          <a:xfrm>
            <a:off x="640080" y="5989320"/>
            <a:ext cx="6217920" cy="365760"/>
          </a:xfrm>
          <a:prstGeom prst="rect">
            <a:avLst/>
          </a:prstGeom>
          <a:noFill/>
          <a:ln/>
        </p:spPr>
        <p:txBody>
          <a:bodyPr wrap="square" lIns="0" tIns="0" rIns="0" bIns="0" rtlCol="0" anchor="t"/>
          <a:lstStyle/>
          <a:p>
            <a:pPr marL="0" indent="0">
              <a:buNone/>
            </a:pPr>
            <a:r>
              <a:rPr lang="en-US" sz="1400" dirty="0">
                <a:solidFill>
                  <a:schemeClr val="accent6"/>
                </a:solidFill>
              </a:rPr>
              <a:t>HS524M – Urban Informatics and Spatial Analytics   | </a:t>
            </a:r>
            <a:endParaRPr lang="en-US" sz="1400" dirty="0"/>
          </a:p>
        </p:txBody>
      </p:sp>
      <p:pic>
        <p:nvPicPr>
          <p:cNvPr id="5" name="Image 0" descr="Lucknow GHSL built-up surface 2020 on dark background"/>
          <p:cNvPicPr>
            <a:picLocks noChangeAspect="1"/>
          </p:cNvPicPr>
          <p:nvPr/>
        </p:nvPicPr>
        <p:blipFill>
          <a:blip r:embed="rId3"/>
          <a:stretch>
            <a:fillRect/>
          </a:stretch>
        </p:blipFill>
        <p:spPr>
          <a:xfrm>
            <a:off x="7223760" y="685800"/>
            <a:ext cx="4572000" cy="5111750"/>
          </a:xfrm>
          <a:prstGeom prst="rect">
            <a:avLst/>
          </a:prstGeom>
        </p:spPr>
      </p:pic>
      <p:sp>
        <p:nvSpPr>
          <p:cNvPr id="7" name="TextBox 6">
            <a:extLst>
              <a:ext uri="{FF2B5EF4-FFF2-40B4-BE49-F238E27FC236}">
                <a16:creationId xmlns:a16="http://schemas.microsoft.com/office/drawing/2014/main" id="{D04FD903-161B-2E67-7AA3-22D30BD71111}"/>
              </a:ext>
            </a:extLst>
          </p:cNvPr>
          <p:cNvSpPr txBox="1"/>
          <p:nvPr/>
        </p:nvSpPr>
        <p:spPr>
          <a:xfrm>
            <a:off x="858415" y="2174033"/>
            <a:ext cx="5253135" cy="923330"/>
          </a:xfrm>
          <a:prstGeom prst="rect">
            <a:avLst/>
          </a:prstGeom>
          <a:noFill/>
        </p:spPr>
        <p:txBody>
          <a:bodyPr wrap="square" rtlCol="0">
            <a:spAutoFit/>
          </a:bodyPr>
          <a:lstStyle/>
          <a:p>
            <a:r>
              <a:rPr lang="en-IN" dirty="0">
                <a:solidFill>
                  <a:srgbClr val="FF0000"/>
                </a:solidFill>
              </a:rPr>
              <a:t>Name: Yadvendra Singh Yadav</a:t>
            </a:r>
          </a:p>
          <a:p>
            <a:r>
              <a:rPr lang="en-IN" dirty="0">
                <a:solidFill>
                  <a:srgbClr val="FF0000"/>
                </a:solidFill>
              </a:rPr>
              <a:t>Roll no:  CE25M414</a:t>
            </a:r>
          </a:p>
          <a:p>
            <a:r>
              <a:rPr lang="en-IN" dirty="0">
                <a:solidFill>
                  <a:srgbClr val="FF0000"/>
                </a:solidFill>
              </a:rPr>
              <a:t>Department: Civil  and Environmental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The question and what this deck delivers</a:t>
            </a:r>
            <a:endParaRPr lang="en-US" sz="3200" dirty="0"/>
          </a:p>
        </p:txBody>
      </p:sp>
      <p:sp>
        <p:nvSpPr>
          <p:cNvPr id="4" name="questionCard"/>
          <p:cNvSpPr/>
          <p:nvPr/>
        </p:nvSpPr>
        <p:spPr>
          <a:xfrm>
            <a:off x="548640" y="1325880"/>
            <a:ext cx="4846320" cy="4389120"/>
          </a:xfrm>
          <a:prstGeom prst="roundRect">
            <a:avLst>
              <a:gd name="adj" fmla="val 166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5" name="Text 2"/>
          <p:cNvSpPr txBox="1"/>
          <p:nvPr/>
        </p:nvSpPr>
        <p:spPr>
          <a:xfrm>
            <a:off x="822960" y="1554480"/>
            <a:ext cx="4297680" cy="365760"/>
          </a:xfrm>
          <a:prstGeom prst="rect">
            <a:avLst/>
          </a:prstGeom>
          <a:noFill/>
          <a:ln/>
        </p:spPr>
        <p:txBody>
          <a:bodyPr wrap="square" lIns="0" tIns="0" rIns="0" bIns="0" rtlCol="0" anchor="t"/>
          <a:lstStyle/>
          <a:p>
            <a:pPr marL="0" indent="0">
              <a:buNone/>
            </a:pPr>
            <a:r>
              <a:rPr lang="en-US" sz="1600" b="1" dirty="0">
                <a:solidFill>
                  <a:schemeClr val="accent2"/>
                </a:solidFill>
              </a:rPr>
              <a:t>Research question</a:t>
            </a:r>
            <a:endParaRPr lang="en-US" sz="1600" dirty="0"/>
          </a:p>
        </p:txBody>
      </p:sp>
      <p:sp>
        <p:nvSpPr>
          <p:cNvPr id="6" name="Text 3"/>
          <p:cNvSpPr txBox="1"/>
          <p:nvPr/>
        </p:nvSpPr>
        <p:spPr>
          <a:xfrm>
            <a:off x="822960" y="2011680"/>
            <a:ext cx="4297680" cy="146304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How did total built-up surface and predominantly non-residential built-up surface change in Lucknow between 2000 and 2020?</a:t>
            </a:r>
            <a:endParaRPr lang="en-US" sz="2000" dirty="0"/>
          </a:p>
        </p:txBody>
      </p:sp>
      <p:sp>
        <p:nvSpPr>
          <p:cNvPr id="7" name="Text 4"/>
          <p:cNvSpPr txBox="1"/>
          <p:nvPr/>
        </p:nvSpPr>
        <p:spPr>
          <a:xfrm>
            <a:off x="822960" y="3611880"/>
            <a:ext cx="4297680" cy="365760"/>
          </a:xfrm>
          <a:prstGeom prst="rect">
            <a:avLst/>
          </a:prstGeom>
          <a:noFill/>
          <a:ln/>
        </p:spPr>
        <p:txBody>
          <a:bodyPr wrap="square" lIns="0" tIns="0" rIns="0" bIns="0" rtlCol="0" anchor="t"/>
          <a:lstStyle/>
          <a:p>
            <a:pPr marL="0" indent="0">
              <a:buNone/>
            </a:pPr>
            <a:r>
              <a:rPr lang="en-US" sz="1600" b="1" dirty="0">
                <a:solidFill>
                  <a:schemeClr val="accent2"/>
                </a:solidFill>
              </a:rPr>
              <a:t>Sub-questions</a:t>
            </a:r>
            <a:endParaRPr lang="en-US" sz="1600" dirty="0"/>
          </a:p>
        </p:txBody>
      </p:sp>
      <p:sp>
        <p:nvSpPr>
          <p:cNvPr id="8" name="Text 5"/>
          <p:cNvSpPr txBox="1"/>
          <p:nvPr/>
        </p:nvSpPr>
        <p:spPr>
          <a:xfrm>
            <a:off x="822960" y="4023360"/>
            <a:ext cx="4297680" cy="137160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chemeClr val="tx1"/>
                </a:solidFill>
              </a:rPr>
              <a:t>Do the two grow at the same rate?</a:t>
            </a:r>
            <a:endParaRPr lang="en-US" sz="1600" dirty="0"/>
          </a:p>
          <a:p>
            <a:pPr marL="177800" indent="-177800">
              <a:spcAft>
                <a:spcPts val="800"/>
              </a:spcAft>
              <a:buSzPct val="100000"/>
              <a:buChar char="•"/>
            </a:pPr>
            <a:r>
              <a:rPr lang="en-US" sz="1600" dirty="0">
                <a:solidFill>
                  <a:schemeClr val="tx1"/>
                </a:solidFill>
              </a:rPr>
              <a:t>What happens to the non-residential share?</a:t>
            </a:r>
            <a:endParaRPr lang="en-US" sz="1600" dirty="0"/>
          </a:p>
          <a:p>
            <a:pPr marL="177800" indent="-177800">
              <a:spcAft>
                <a:spcPts val="800"/>
              </a:spcAft>
              <a:buSzPct val="100000"/>
              <a:buChar char="•"/>
            </a:pPr>
            <a:r>
              <a:rPr lang="en-US" sz="1600" dirty="0">
                <a:solidFill>
                  <a:schemeClr val="tx1"/>
                </a:solidFill>
              </a:rPr>
              <a:t>Where in the city did the growth happen?</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760720" y="1325880"/>
          <a:ext cx="5852160" cy="4389120"/>
        </p:xfrm>
        <a:graphic>
          <a:graphicData uri="http://schemas.openxmlformats.org/drawingml/2006/table">
            <a:tbl>
              <a:tblPr/>
              <a:tblGrid>
                <a:gridCol w="4023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548640">
                <a:tc>
                  <a:txBody>
                    <a:bodyPr/>
                    <a:lstStyle/>
                    <a:p>
                      <a:pPr marL="0" indent="0" algn="l">
                        <a:buNone/>
                      </a:pPr>
                      <a:r>
                        <a:rPr lang="en-US" sz="1400" b="1" dirty="0">
                          <a:solidFill>
                            <a:srgbClr val="FFFFFF"/>
                          </a:solidFill>
                        </a:rPr>
                        <a:t>Assignment requirement</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tc>
                  <a:txBody>
                    <a:bodyPr/>
                    <a:lstStyle/>
                    <a:p>
                      <a:pPr marL="0" indent="0" algn="ctr">
                        <a:buNone/>
                      </a:pPr>
                      <a:r>
                        <a:rPr lang="en-US" sz="1400" b="1" dirty="0">
                          <a:solidFill>
                            <a:srgbClr val="FFFFFF"/>
                          </a:solidFill>
                        </a:rPr>
                        <a:t>Slides</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extLst>
                  <a:ext uri="{0D108BD9-81ED-4DB2-BD59-A6C34878D82A}">
                    <a16:rowId xmlns:a16="http://schemas.microsoft.com/office/drawing/2014/main" val="10000"/>
                  </a:ext>
                </a:extLst>
              </a:tr>
              <a:tr h="548640">
                <a:tc>
                  <a:txBody>
                    <a:bodyPr/>
                    <a:lstStyle/>
                    <a:p>
                      <a:pPr marL="0" indent="0" algn="l">
                        <a:buNone/>
                      </a:pPr>
                      <a:r>
                        <a:rPr lang="en-US" sz="1400" dirty="0">
                          <a:solidFill>
                            <a:srgbClr val="1B1B2F"/>
                          </a:solidFill>
                        </a:rPr>
                        <a:t>City boundary and source</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4</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400" dirty="0">
                          <a:solidFill>
                            <a:srgbClr val="1B1B2F"/>
                          </a:solidFill>
                        </a:rPr>
                        <a:t>Dataset, filters, method</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5–6</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2"/>
                  </a:ext>
                </a:extLst>
              </a:tr>
              <a:tr h="548640">
                <a:tc>
                  <a:txBody>
                    <a:bodyPr/>
                    <a:lstStyle/>
                    <a:p>
                      <a:pPr marL="0" indent="0" algn="l">
                        <a:buNone/>
                      </a:pPr>
                      <a:r>
                        <a:rPr lang="en-US" sz="1400" dirty="0">
                          <a:solidFill>
                            <a:srgbClr val="1B1B2F"/>
                          </a:solidFill>
                        </a:rPr>
                        <a:t>Indicator analysis and statistics</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7–10, 15, 17</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400" dirty="0">
                          <a:solidFill>
                            <a:srgbClr val="1B1B2F"/>
                          </a:solidFill>
                        </a:rPr>
                        <a:t>Thematic maps (title, legend, units)</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11, 13, 14, 16</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4"/>
                  </a:ext>
                </a:extLst>
              </a:tr>
              <a:tr h="548640">
                <a:tc>
                  <a:txBody>
                    <a:bodyPr/>
                    <a:lstStyle/>
                    <a:p>
                      <a:pPr marL="0" indent="0" algn="l">
                        <a:buNone/>
                      </a:pPr>
                      <a:r>
                        <a:rPr lang="en-US" sz="1400" dirty="0">
                          <a:solidFill>
                            <a:srgbClr val="1B1B2F"/>
                          </a:solidFill>
                        </a:rPr>
                        <a:t>Dynamic temporal output</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12</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400" dirty="0">
                          <a:solidFill>
                            <a:srgbClr val="1B1B2F"/>
                          </a:solidFill>
                        </a:rPr>
                        <a:t>Discussion and limitations</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18–19</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6"/>
                  </a:ext>
                </a:extLst>
              </a:tr>
              <a:tr h="548640">
                <a:tc>
                  <a:txBody>
                    <a:bodyPr/>
                    <a:lstStyle/>
                    <a:p>
                      <a:pPr marL="0" indent="0" algn="l">
                        <a:buNone/>
                      </a:pPr>
                      <a:r>
                        <a:rPr lang="en-US" sz="1400" dirty="0">
                          <a:solidFill>
                            <a:srgbClr val="1B1B2F"/>
                          </a:solidFill>
                        </a:rPr>
                        <a:t>Sources and hosting</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20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Summary of results: municipal area, 2000 to 2020</a:t>
            </a:r>
            <a:endParaRPr lang="en-US" sz="3200" dirty="0"/>
          </a:p>
        </p:txBody>
      </p:sp>
      <p:sp>
        <p:nvSpPr>
          <p:cNvPr id="4" name="stat1"/>
          <p:cNvSpPr/>
          <p:nvPr/>
        </p:nvSpPr>
        <p:spPr>
          <a:xfrm>
            <a:off x="548640" y="1325880"/>
            <a:ext cx="2606040" cy="1737360"/>
          </a:xfrm>
          <a:prstGeom prst="roundRect">
            <a:avLst>
              <a:gd name="adj" fmla="val 421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5" name="Text 2"/>
          <p:cNvSpPr txBox="1"/>
          <p:nvPr/>
        </p:nvSpPr>
        <p:spPr>
          <a:xfrm>
            <a:off x="685800" y="1508760"/>
            <a:ext cx="2331720" cy="731520"/>
          </a:xfrm>
          <a:prstGeom prst="rect">
            <a:avLst/>
          </a:prstGeom>
          <a:noFill/>
          <a:ln/>
        </p:spPr>
        <p:txBody>
          <a:bodyPr wrap="square" lIns="0" tIns="0" rIns="0" bIns="0" rtlCol="0" anchor="ctr"/>
          <a:lstStyle/>
          <a:p>
            <a:pPr marL="0" indent="0" algn="ctr">
              <a:buNone/>
            </a:pPr>
            <a:r>
              <a:rPr lang="en-US" sz="2800" b="1" dirty="0">
                <a:solidFill>
                  <a:schemeClr val="accent1"/>
                </a:solidFill>
                <a:latin typeface="Cambria" pitchFamily="34" charset="0"/>
                <a:ea typeface="Cambria" pitchFamily="34" charset="-122"/>
                <a:cs typeface="Cambria" pitchFamily="34" charset="-120"/>
              </a:rPr>
              <a:t>+22.7 km²</a:t>
            </a:r>
            <a:endParaRPr lang="en-US" sz="2800" dirty="0"/>
          </a:p>
        </p:txBody>
      </p:sp>
      <p:sp>
        <p:nvSpPr>
          <p:cNvPr id="6" name="Text 3"/>
          <p:cNvSpPr txBox="1"/>
          <p:nvPr/>
        </p:nvSpPr>
        <p:spPr>
          <a:xfrm>
            <a:off x="685800" y="2286000"/>
            <a:ext cx="2331720" cy="640080"/>
          </a:xfrm>
          <a:prstGeom prst="rect">
            <a:avLst/>
          </a:prstGeom>
          <a:noFill/>
          <a:ln/>
        </p:spPr>
        <p:txBody>
          <a:bodyPr wrap="square" lIns="0" tIns="0" rIns="0" bIns="0" rtlCol="0" anchor="t"/>
          <a:lstStyle/>
          <a:p>
            <a:pPr marL="0" indent="0" algn="ctr">
              <a:buNone/>
            </a:pPr>
            <a:r>
              <a:rPr lang="en-US" sz="1400" dirty="0">
                <a:solidFill>
                  <a:schemeClr val="tx1"/>
                </a:solidFill>
              </a:rPr>
              <a:t>Total built-up surface (+40.9%)</a:t>
            </a:r>
            <a:endParaRPr lang="en-US" sz="1400" dirty="0"/>
          </a:p>
        </p:txBody>
      </p:sp>
      <p:sp>
        <p:nvSpPr>
          <p:cNvPr id="7" name="stat2"/>
          <p:cNvSpPr/>
          <p:nvPr/>
        </p:nvSpPr>
        <p:spPr>
          <a:xfrm>
            <a:off x="3429000" y="1325880"/>
            <a:ext cx="2606040" cy="1737360"/>
          </a:xfrm>
          <a:prstGeom prst="roundRect">
            <a:avLst>
              <a:gd name="adj" fmla="val 421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8" name="Text 5"/>
          <p:cNvSpPr txBox="1"/>
          <p:nvPr/>
        </p:nvSpPr>
        <p:spPr>
          <a:xfrm>
            <a:off x="3566160" y="1508760"/>
            <a:ext cx="2331720" cy="731520"/>
          </a:xfrm>
          <a:prstGeom prst="rect">
            <a:avLst/>
          </a:prstGeom>
          <a:noFill/>
          <a:ln/>
        </p:spPr>
        <p:txBody>
          <a:bodyPr wrap="square" lIns="0" tIns="0" rIns="0" bIns="0" rtlCol="0" anchor="ctr"/>
          <a:lstStyle/>
          <a:p>
            <a:pPr marL="0" indent="0" algn="ctr">
              <a:buNone/>
            </a:pPr>
            <a:r>
              <a:rPr lang="en-US" sz="2800" b="1" dirty="0">
                <a:solidFill>
                  <a:schemeClr val="accent2"/>
                </a:solidFill>
                <a:latin typeface="Cambria" pitchFamily="34" charset="0"/>
                <a:ea typeface="Cambria" pitchFamily="34" charset="-122"/>
                <a:cs typeface="Cambria" pitchFamily="34" charset="-120"/>
              </a:rPr>
              <a:t>+0.66 km²</a:t>
            </a:r>
            <a:endParaRPr lang="en-US" sz="2800" dirty="0"/>
          </a:p>
        </p:txBody>
      </p:sp>
      <p:sp>
        <p:nvSpPr>
          <p:cNvPr id="9" name="Text 6"/>
          <p:cNvSpPr txBox="1"/>
          <p:nvPr/>
        </p:nvSpPr>
        <p:spPr>
          <a:xfrm>
            <a:off x="3566160" y="2286000"/>
            <a:ext cx="2331720" cy="640080"/>
          </a:xfrm>
          <a:prstGeom prst="rect">
            <a:avLst/>
          </a:prstGeom>
          <a:noFill/>
          <a:ln/>
        </p:spPr>
        <p:txBody>
          <a:bodyPr wrap="square" lIns="0" tIns="0" rIns="0" bIns="0" rtlCol="0" anchor="t"/>
          <a:lstStyle/>
          <a:p>
            <a:pPr marL="0" indent="0" algn="ctr">
              <a:buNone/>
            </a:pPr>
            <a:r>
              <a:rPr lang="en-US" sz="1400" dirty="0">
                <a:solidFill>
                  <a:schemeClr val="tx1"/>
                </a:solidFill>
              </a:rPr>
              <a:t>Non-residential surface (+34.4%)</a:t>
            </a:r>
            <a:endParaRPr lang="en-US" sz="1400" dirty="0"/>
          </a:p>
        </p:txBody>
      </p:sp>
      <p:sp>
        <p:nvSpPr>
          <p:cNvPr id="10" name="stat3"/>
          <p:cNvSpPr/>
          <p:nvPr/>
        </p:nvSpPr>
        <p:spPr>
          <a:xfrm>
            <a:off x="6309360" y="1325880"/>
            <a:ext cx="2606040" cy="1737360"/>
          </a:xfrm>
          <a:prstGeom prst="roundRect">
            <a:avLst>
              <a:gd name="adj" fmla="val 421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1" name="Text 8"/>
          <p:cNvSpPr txBox="1"/>
          <p:nvPr/>
        </p:nvSpPr>
        <p:spPr>
          <a:xfrm>
            <a:off x="6446520" y="1508760"/>
            <a:ext cx="2331720" cy="731520"/>
          </a:xfrm>
          <a:prstGeom prst="rect">
            <a:avLst/>
          </a:prstGeom>
          <a:noFill/>
          <a:ln/>
        </p:spPr>
        <p:txBody>
          <a:bodyPr wrap="square" lIns="0" tIns="0" rIns="0" bIns="0" rtlCol="0" anchor="ctr"/>
          <a:lstStyle/>
          <a:p>
            <a:pPr marL="0" indent="0" algn="ctr">
              <a:buNone/>
            </a:pPr>
            <a:r>
              <a:rPr lang="en-US" sz="2800" b="1" dirty="0">
                <a:solidFill>
                  <a:schemeClr val="accent2"/>
                </a:solidFill>
                <a:latin typeface="Cambria" pitchFamily="34" charset="0"/>
                <a:ea typeface="Cambria" pitchFamily="34" charset="-122"/>
                <a:cs typeface="Cambria" pitchFamily="34" charset="-120"/>
              </a:rPr>
              <a:t>3.46 → 3.30%</a:t>
            </a:r>
            <a:endParaRPr lang="en-US" sz="2800" dirty="0"/>
          </a:p>
        </p:txBody>
      </p:sp>
      <p:sp>
        <p:nvSpPr>
          <p:cNvPr id="12" name="Text 9"/>
          <p:cNvSpPr txBox="1"/>
          <p:nvPr/>
        </p:nvSpPr>
        <p:spPr>
          <a:xfrm>
            <a:off x="6446520" y="2286000"/>
            <a:ext cx="2331720" cy="640080"/>
          </a:xfrm>
          <a:prstGeom prst="rect">
            <a:avLst/>
          </a:prstGeom>
          <a:noFill/>
          <a:ln/>
        </p:spPr>
        <p:txBody>
          <a:bodyPr wrap="square" lIns="0" tIns="0" rIns="0" bIns="0" rtlCol="0" anchor="t"/>
          <a:lstStyle/>
          <a:p>
            <a:pPr marL="0" indent="0" algn="ctr">
              <a:buNone/>
            </a:pPr>
            <a:r>
              <a:rPr lang="en-US" sz="1400" dirty="0">
                <a:solidFill>
                  <a:schemeClr val="tx1"/>
                </a:solidFill>
              </a:rPr>
              <a:t>Non-residential share of built-up</a:t>
            </a:r>
            <a:endParaRPr lang="en-US" sz="1400" dirty="0"/>
          </a:p>
        </p:txBody>
      </p:sp>
      <p:sp>
        <p:nvSpPr>
          <p:cNvPr id="13" name="stat4"/>
          <p:cNvSpPr/>
          <p:nvPr/>
        </p:nvSpPr>
        <p:spPr>
          <a:xfrm>
            <a:off x="9189720" y="1325880"/>
            <a:ext cx="2606040" cy="1737360"/>
          </a:xfrm>
          <a:prstGeom prst="roundRect">
            <a:avLst>
              <a:gd name="adj" fmla="val 421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4" name="Text 11"/>
          <p:cNvSpPr txBox="1"/>
          <p:nvPr/>
        </p:nvSpPr>
        <p:spPr>
          <a:xfrm>
            <a:off x="9326880" y="1508760"/>
            <a:ext cx="2331720" cy="731520"/>
          </a:xfrm>
          <a:prstGeom prst="rect">
            <a:avLst/>
          </a:prstGeom>
          <a:noFill/>
          <a:ln/>
        </p:spPr>
        <p:txBody>
          <a:bodyPr wrap="square" lIns="0" tIns="0" rIns="0" bIns="0" rtlCol="0" anchor="ctr"/>
          <a:lstStyle/>
          <a:p>
            <a:pPr marL="0" indent="0" algn="ctr">
              <a:buNone/>
            </a:pPr>
            <a:r>
              <a:rPr lang="en-US" sz="2800" b="1" dirty="0">
                <a:solidFill>
                  <a:schemeClr val="accent3"/>
                </a:solidFill>
                <a:latin typeface="Cambria" pitchFamily="34" charset="0"/>
                <a:ea typeface="Cambria" pitchFamily="34" charset="-122"/>
                <a:cs typeface="Cambria" pitchFamily="34" charset="-120"/>
              </a:rPr>
              <a:t>20.0 → 28.2%</a:t>
            </a:r>
            <a:endParaRPr lang="en-US" sz="2800" dirty="0"/>
          </a:p>
        </p:txBody>
      </p:sp>
      <p:sp>
        <p:nvSpPr>
          <p:cNvPr id="15" name="Text 12"/>
          <p:cNvSpPr txBox="1"/>
          <p:nvPr/>
        </p:nvSpPr>
        <p:spPr>
          <a:xfrm>
            <a:off x="9326880" y="2286000"/>
            <a:ext cx="2331720" cy="640080"/>
          </a:xfrm>
          <a:prstGeom prst="rect">
            <a:avLst/>
          </a:prstGeom>
          <a:noFill/>
          <a:ln/>
        </p:spPr>
        <p:txBody>
          <a:bodyPr wrap="square" lIns="0" tIns="0" rIns="0" bIns="0" rtlCol="0" anchor="t"/>
          <a:lstStyle/>
          <a:p>
            <a:pPr marL="0" indent="0" algn="ctr">
              <a:buNone/>
            </a:pPr>
            <a:r>
              <a:rPr lang="en-US" sz="1400" dirty="0">
                <a:solidFill>
                  <a:schemeClr val="tx1"/>
                </a:solidFill>
              </a:rPr>
              <a:t>Built-up share of city area</a:t>
            </a:r>
            <a:endParaRPr lang="en-US" sz="1400" dirty="0"/>
          </a:p>
        </p:txBody>
      </p:sp>
      <p:sp>
        <p:nvSpPr>
          <p:cNvPr id="16" name="msgNum1"/>
          <p:cNvSpPr/>
          <p:nvPr/>
        </p:nvSpPr>
        <p:spPr>
          <a:xfrm>
            <a:off x="548640" y="361188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548640" y="361188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8" name="Text 15"/>
          <p:cNvSpPr txBox="1"/>
          <p:nvPr/>
        </p:nvSpPr>
        <p:spPr>
          <a:xfrm>
            <a:off x="1188720" y="3474720"/>
            <a:ext cx="10424160" cy="731520"/>
          </a:xfrm>
          <a:prstGeom prst="rect">
            <a:avLst/>
          </a:prstGeom>
          <a:noFill/>
          <a:ln/>
        </p:spPr>
        <p:txBody>
          <a:bodyPr wrap="square" lIns="0" tIns="0" rIns="0" bIns="0" rtlCol="0" anchor="ctr"/>
          <a:lstStyle/>
          <a:p>
            <a:pPr marL="0" indent="0">
              <a:buNone/>
            </a:pPr>
            <a:r>
              <a:rPr lang="en-US" sz="1600" dirty="0">
                <a:solidFill>
                  <a:schemeClr val="tx1"/>
                </a:solidFill>
              </a:rPr>
              <a:t>The municipal built-up surface grew from 55.4 to 78.1 km². Growth was fastest in 2010–15 (+6.7 km²) and slowed in 2015–20 (+4.3 km²).</a:t>
            </a:r>
            <a:endParaRPr lang="en-US" sz="1600" dirty="0"/>
          </a:p>
        </p:txBody>
      </p:sp>
      <p:sp>
        <p:nvSpPr>
          <p:cNvPr id="19" name="msgNum2"/>
          <p:cNvSpPr/>
          <p:nvPr/>
        </p:nvSpPr>
        <p:spPr>
          <a:xfrm>
            <a:off x="548640" y="4526280"/>
            <a:ext cx="457200" cy="457200"/>
          </a:xfrm>
          <a:prstGeom prst="ellipse">
            <a:avLst/>
          </a:prstGeom>
          <a:solidFill>
            <a:schemeClr val="accent2"/>
          </a:solidFill>
          <a:ln w="12700">
            <a:solidFill>
              <a:schemeClr val="accent2"/>
            </a:solidFill>
            <a:prstDash val="solid"/>
          </a:ln>
        </p:spPr>
      </p:sp>
      <p:sp>
        <p:nvSpPr>
          <p:cNvPr id="20" name="Text 17"/>
          <p:cNvSpPr txBox="1"/>
          <p:nvPr/>
        </p:nvSpPr>
        <p:spPr>
          <a:xfrm>
            <a:off x="548640" y="452628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1" name="Text 18"/>
          <p:cNvSpPr txBox="1"/>
          <p:nvPr/>
        </p:nvSpPr>
        <p:spPr>
          <a:xfrm>
            <a:off x="1188720" y="4389120"/>
            <a:ext cx="10424160" cy="731520"/>
          </a:xfrm>
          <a:prstGeom prst="rect">
            <a:avLst/>
          </a:prstGeom>
          <a:noFill/>
          <a:ln/>
        </p:spPr>
        <p:txBody>
          <a:bodyPr wrap="square" lIns="0" tIns="0" rIns="0" bIns="0" rtlCol="0" anchor="ctr"/>
          <a:lstStyle/>
          <a:p>
            <a:pPr marL="0" indent="0">
              <a:buNone/>
            </a:pPr>
            <a:r>
              <a:rPr lang="en-US" sz="1600" dirty="0">
                <a:solidFill>
                  <a:schemeClr val="tx1"/>
                </a:solidFill>
              </a:rPr>
              <a:t>Non-residential surface is small (about 3% of built-up) and grew more slowly. It supplied only 2.9% of the new built-up surface.</a:t>
            </a:r>
            <a:endParaRPr lang="en-US" sz="1600" dirty="0"/>
          </a:p>
        </p:txBody>
      </p:sp>
      <p:sp>
        <p:nvSpPr>
          <p:cNvPr id="22" name="msgNum3"/>
          <p:cNvSpPr/>
          <p:nvPr/>
        </p:nvSpPr>
        <p:spPr>
          <a:xfrm>
            <a:off x="548640" y="5440680"/>
            <a:ext cx="457200" cy="457200"/>
          </a:xfrm>
          <a:prstGeom prst="ellipse">
            <a:avLst/>
          </a:prstGeom>
          <a:solidFill>
            <a:schemeClr val="accent1"/>
          </a:solidFill>
          <a:ln w="12700">
            <a:solidFill>
              <a:schemeClr val="accent1"/>
            </a:solidFill>
            <a:prstDash val="solid"/>
          </a:ln>
        </p:spPr>
      </p:sp>
      <p:sp>
        <p:nvSpPr>
          <p:cNvPr id="23" name="Text 20"/>
          <p:cNvSpPr txBox="1"/>
          <p:nvPr/>
        </p:nvSpPr>
        <p:spPr>
          <a:xfrm>
            <a:off x="548640" y="544068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4" name="Text 21"/>
          <p:cNvSpPr txBox="1"/>
          <p:nvPr/>
        </p:nvSpPr>
        <p:spPr>
          <a:xfrm>
            <a:off x="1188720" y="5303520"/>
            <a:ext cx="10424160" cy="731520"/>
          </a:xfrm>
          <a:prstGeom prst="rect">
            <a:avLst/>
          </a:prstGeom>
          <a:noFill/>
          <a:ln/>
        </p:spPr>
        <p:txBody>
          <a:bodyPr wrap="square" lIns="0" tIns="0" rIns="0" bIns="0" rtlCol="0" anchor="ctr"/>
          <a:lstStyle/>
          <a:p>
            <a:pPr marL="0" indent="0">
              <a:buNone/>
            </a:pPr>
            <a:r>
              <a:rPr lang="en-US" sz="1600" dirty="0">
                <a:solidFill>
                  <a:schemeClr val="tx1"/>
                </a:solidFill>
              </a:rPr>
              <a:t>In the wider district, built-up surface doubled (74.7 → 152.2 km²) and 2015–20 was its largest interval, so growth is moving beyond the city limits.</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Study area and boundary</a:t>
            </a:r>
            <a:endParaRPr lang="en-US" sz="3200" dirty="0"/>
          </a:p>
        </p:txBody>
      </p:sp>
      <p:pic>
        <p:nvPicPr>
          <p:cNvPr id="4" name="Image 0" descr="Map of the Lucknow Municipal Corporation boundary"/>
          <p:cNvPicPr>
            <a:picLocks noChangeAspect="1"/>
          </p:cNvPicPr>
          <p:nvPr/>
        </p:nvPicPr>
        <p:blipFill>
          <a:blip r:embed="rId3"/>
          <a:stretch>
            <a:fillRect/>
          </a:stretch>
        </p:blipFill>
        <p:spPr>
          <a:xfrm>
            <a:off x="548640" y="1280160"/>
            <a:ext cx="4371975" cy="4663440"/>
          </a:xfrm>
          <a:prstGeom prst="rect">
            <a:avLst/>
          </a:prstGeom>
        </p:spPr>
      </p:pic>
      <p:sp>
        <p:nvSpPr>
          <p:cNvPr id="5" name="cityCard"/>
          <p:cNvSpPr/>
          <p:nvPr/>
        </p:nvSpPr>
        <p:spPr>
          <a:xfrm>
            <a:off x="5852160" y="1325880"/>
            <a:ext cx="5760720" cy="1508760"/>
          </a:xfrm>
          <a:prstGeom prst="roundRect">
            <a:avLst>
              <a:gd name="adj" fmla="val 4848"/>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6" name="Text 2"/>
          <p:cNvSpPr txBox="1"/>
          <p:nvPr/>
        </p:nvSpPr>
        <p:spPr>
          <a:xfrm>
            <a:off x="6080760" y="1463040"/>
            <a:ext cx="5303520" cy="365760"/>
          </a:xfrm>
          <a:prstGeom prst="rect">
            <a:avLst/>
          </a:prstGeom>
          <a:noFill/>
          <a:ln/>
        </p:spPr>
        <p:txBody>
          <a:bodyPr wrap="square" lIns="0" tIns="0" rIns="0" bIns="0" rtlCol="0" anchor="t"/>
          <a:lstStyle/>
          <a:p>
            <a:pPr marL="0" indent="0">
              <a:buNone/>
            </a:pPr>
            <a:r>
              <a:rPr lang="en-US" sz="1600" b="1" dirty="0">
                <a:solidFill>
                  <a:schemeClr val="accent2"/>
                </a:solidFill>
              </a:rPr>
              <a:t>Main boundary: municipal area</a:t>
            </a:r>
            <a:endParaRPr lang="en-US" sz="1600" dirty="0"/>
          </a:p>
        </p:txBody>
      </p:sp>
      <p:sp>
        <p:nvSpPr>
          <p:cNvPr id="7" name="Text 3"/>
          <p:cNvSpPr txBox="1"/>
          <p:nvPr/>
        </p:nvSpPr>
        <p:spPr>
          <a:xfrm>
            <a:off x="6080760" y="1874520"/>
            <a:ext cx="5303520" cy="914400"/>
          </a:xfrm>
          <a:prstGeom prst="rect">
            <a:avLst/>
          </a:prstGeom>
          <a:noFill/>
          <a:ln/>
        </p:spPr>
        <p:txBody>
          <a:bodyPr wrap="square" lIns="0" tIns="0" rIns="0" bIns="0" rtlCol="0" anchor="t"/>
          <a:lstStyle/>
          <a:p>
            <a:pPr marL="0" indent="0">
              <a:buNone/>
            </a:pPr>
            <a:r>
              <a:rPr lang="en-US" sz="1500" dirty="0">
                <a:solidFill>
                  <a:schemeClr val="tx1"/>
                </a:solidFill>
              </a:rPr>
              <a:t>Lucknow Municipal Corporation, 277.3 km². Indian Urban Local Body boundaries (SBM / DataMeet release, CC0).</a:t>
            </a:r>
            <a:endParaRPr lang="en-US" sz="1500" dirty="0"/>
          </a:p>
        </p:txBody>
      </p:sp>
      <p:sp>
        <p:nvSpPr>
          <p:cNvPr id="8" name="districtCard"/>
          <p:cNvSpPr/>
          <p:nvPr/>
        </p:nvSpPr>
        <p:spPr>
          <a:xfrm>
            <a:off x="5852160" y="3017520"/>
            <a:ext cx="5760720" cy="1508760"/>
          </a:xfrm>
          <a:prstGeom prst="roundRect">
            <a:avLst>
              <a:gd name="adj" fmla="val 4848"/>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9" name="Text 5"/>
          <p:cNvSpPr txBox="1"/>
          <p:nvPr/>
        </p:nvSpPr>
        <p:spPr>
          <a:xfrm>
            <a:off x="6080760" y="3154680"/>
            <a:ext cx="5303520" cy="365760"/>
          </a:xfrm>
          <a:prstGeom prst="rect">
            <a:avLst/>
          </a:prstGeom>
          <a:noFill/>
          <a:ln/>
        </p:spPr>
        <p:txBody>
          <a:bodyPr wrap="square" lIns="0" tIns="0" rIns="0" bIns="0" rtlCol="0" anchor="t"/>
          <a:lstStyle/>
          <a:p>
            <a:pPr marL="0" indent="0">
              <a:buNone/>
            </a:pPr>
            <a:r>
              <a:rPr lang="en-US" sz="1600" b="1" dirty="0">
                <a:solidFill>
                  <a:schemeClr val="accent5"/>
                </a:solidFill>
              </a:rPr>
              <a:t>Context boundary: district</a:t>
            </a:r>
            <a:endParaRPr lang="en-US" sz="1600" dirty="0"/>
          </a:p>
        </p:txBody>
      </p:sp>
      <p:sp>
        <p:nvSpPr>
          <p:cNvPr id="10" name="Text 6"/>
          <p:cNvSpPr txBox="1"/>
          <p:nvPr/>
        </p:nvSpPr>
        <p:spPr>
          <a:xfrm>
            <a:off x="6080760" y="3566160"/>
            <a:ext cx="5303520" cy="914400"/>
          </a:xfrm>
          <a:prstGeom prst="rect">
            <a:avLst/>
          </a:prstGeom>
          <a:noFill/>
          <a:ln/>
        </p:spPr>
        <p:txBody>
          <a:bodyPr wrap="square" lIns="0" tIns="0" rIns="0" bIns="0" rtlCol="0" anchor="t"/>
          <a:lstStyle/>
          <a:p>
            <a:pPr marL="0" indent="0">
              <a:buNone/>
            </a:pPr>
            <a:r>
              <a:rPr lang="en-US" sz="1500" dirty="0">
                <a:solidFill>
                  <a:schemeClr val="tx1"/>
                </a:solidFill>
              </a:rPr>
              <a:t>Lucknow district, about 2,530 km². FAO GAUL 2015 level 2 via Earth Engine. Shows growth outside the city limits.</a:t>
            </a:r>
            <a:endParaRPr lang="en-US" sz="1500" dirty="0"/>
          </a:p>
        </p:txBody>
      </p:sp>
      <p:sp>
        <p:nvSpPr>
          <p:cNvPr id="11" name="prepCard"/>
          <p:cNvSpPr/>
          <p:nvPr/>
        </p:nvSpPr>
        <p:spPr>
          <a:xfrm>
            <a:off x="5852160" y="4709160"/>
            <a:ext cx="5760720" cy="1371600"/>
          </a:xfrm>
          <a:prstGeom prst="roundRect">
            <a:avLst>
              <a:gd name="adj" fmla="val 5333"/>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2" name="Text 8"/>
          <p:cNvSpPr txBox="1"/>
          <p:nvPr/>
        </p:nvSpPr>
        <p:spPr>
          <a:xfrm>
            <a:off x="6080760" y="4828032"/>
            <a:ext cx="5303520" cy="365760"/>
          </a:xfrm>
          <a:prstGeom prst="rect">
            <a:avLst/>
          </a:prstGeom>
          <a:noFill/>
          <a:ln/>
        </p:spPr>
        <p:txBody>
          <a:bodyPr wrap="square" lIns="0" tIns="0" rIns="0" bIns="0" rtlCol="0" anchor="t"/>
          <a:lstStyle/>
          <a:p>
            <a:pPr marL="0" indent="0">
              <a:buNone/>
            </a:pPr>
            <a:r>
              <a:rPr lang="en-US" sz="1600" b="1" dirty="0">
                <a:solidFill>
                  <a:schemeClr val="accent1"/>
                </a:solidFill>
              </a:rPr>
              <a:t>Preparation</a:t>
            </a:r>
            <a:endParaRPr lang="en-US" sz="1600" dirty="0"/>
          </a:p>
        </p:txBody>
      </p:sp>
      <p:sp>
        <p:nvSpPr>
          <p:cNvPr id="13" name="Text 9"/>
          <p:cNvSpPr txBox="1"/>
          <p:nvPr/>
        </p:nvSpPr>
        <p:spPr>
          <a:xfrm>
            <a:off x="6080760" y="5212080"/>
            <a:ext cx="5303520" cy="777240"/>
          </a:xfrm>
          <a:prstGeom prst="rect">
            <a:avLst/>
          </a:prstGeom>
          <a:noFill/>
          <a:ln/>
        </p:spPr>
        <p:txBody>
          <a:bodyPr wrap="square" lIns="0" tIns="0" rIns="0" bIns="0" rtlCol="0" anchor="t"/>
          <a:lstStyle/>
          <a:p>
            <a:pPr marL="0" indent="0">
              <a:buNone/>
            </a:pPr>
            <a:r>
              <a:rPr lang="en-US" sz="1500" dirty="0">
                <a:solidFill>
                  <a:schemeClr val="tx1"/>
                </a:solidFill>
              </a:rPr>
              <a:t>GeoDataFrame → dissolve → WGS84 → make_valid → Earth Engine FeatureCollection</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5071D3-8C88-FFA8-5B62-ED6F3D366D6B}"/>
              </a:ext>
            </a:extLst>
          </p:cNvPr>
          <p:cNvSpPr txBox="1"/>
          <p:nvPr/>
        </p:nvSpPr>
        <p:spPr>
          <a:xfrm>
            <a:off x="518160" y="114300"/>
            <a:ext cx="11155680" cy="640080"/>
          </a:xfrm>
          <a:prstGeom prst="rect">
            <a:avLst/>
          </a:prstGeom>
          <a:noFill/>
        </p:spPr>
        <p:txBody>
          <a:bodyPr wrap="square" lIns="45720" tIns="27432" rIns="45720" bIns="27432" anchor="t">
            <a:spAutoFit/>
          </a:bodyPr>
          <a:lstStyle/>
          <a:p>
            <a:pPr algn="l">
              <a:lnSpc>
                <a:spcPct val="105000"/>
              </a:lnSpc>
              <a:spcAft>
                <a:spcPts val="600"/>
              </a:spcAft>
            </a:pPr>
            <a:r>
              <a:rPr sz="3000" b="1" i="0">
                <a:solidFill>
                  <a:srgbClr val="1F2933"/>
                </a:solidFill>
                <a:latin typeface="Calibri"/>
              </a:rPr>
              <a:t>Data and boundary</a:t>
            </a:r>
          </a:p>
        </p:txBody>
      </p:sp>
      <p:sp>
        <p:nvSpPr>
          <p:cNvPr id="6" name="Rectangle 5">
            <a:extLst>
              <a:ext uri="{FF2B5EF4-FFF2-40B4-BE49-F238E27FC236}">
                <a16:creationId xmlns:a16="http://schemas.microsoft.com/office/drawing/2014/main" id="{B9D36DD9-51ED-1182-A4EC-E50D3ADAEE31}"/>
              </a:ext>
            </a:extLst>
          </p:cNvPr>
          <p:cNvSpPr/>
          <p:nvPr/>
        </p:nvSpPr>
        <p:spPr>
          <a:xfrm>
            <a:off x="502920" y="1188720"/>
            <a:ext cx="5669280" cy="5029200"/>
          </a:xfrm>
          <a:prstGeom prst="rect">
            <a:avLst/>
          </a:prstGeom>
          <a:solidFill>
            <a:srgbClr val="F3F4F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805DF88-E9F8-9E25-138C-81A344CA4DAA}"/>
              </a:ext>
            </a:extLst>
          </p:cNvPr>
          <p:cNvSpPr txBox="1"/>
          <p:nvPr/>
        </p:nvSpPr>
        <p:spPr>
          <a:xfrm>
            <a:off x="731520" y="1691640"/>
            <a:ext cx="5212080" cy="4480560"/>
          </a:xfrm>
          <a:prstGeom prst="rect">
            <a:avLst/>
          </a:prstGeom>
          <a:noFill/>
        </p:spPr>
        <p:txBody>
          <a:bodyPr wrap="square" lIns="45720" tIns="27432" rIns="45720" bIns="27432" anchor="t">
            <a:spAutoFit/>
          </a:bodyPr>
          <a:lstStyle/>
          <a:p>
            <a:pPr marL="285750" indent="-285750" algn="l">
              <a:lnSpc>
                <a:spcPct val="105000"/>
              </a:lnSpc>
              <a:spcAft>
                <a:spcPts val="800"/>
              </a:spcAft>
              <a:buClr>
                <a:srgbClr val="BD0026"/>
              </a:buClr>
              <a:buChar char="•"/>
            </a:pPr>
            <a:r>
              <a:rPr sz="1500" b="0" i="0">
                <a:solidFill>
                  <a:srgbClr val="1F2933"/>
                </a:solidFill>
                <a:latin typeface="Calibri"/>
              </a:rPr>
              <a:t>JRC GHSL GHS-BUILT-S R2023A (100 m, 5-year epochs)</a:t>
            </a:r>
          </a:p>
          <a:p>
            <a:pPr algn="l">
              <a:lnSpc>
                <a:spcPct val="105000"/>
              </a:lnSpc>
              <a:spcAft>
                <a:spcPts val="800"/>
              </a:spcAft>
            </a:pPr>
            <a:r>
              <a:rPr sz="1200" b="0" i="0">
                <a:solidFill>
                  <a:srgbClr val="6B7280"/>
                </a:solidFill>
                <a:latin typeface="Consolas"/>
              </a:rPr>
              <a:t>JRC/GHSL/P2023A/GHS_BUILT_S</a:t>
            </a:r>
          </a:p>
          <a:p>
            <a:pPr marL="285750" indent="-285750" algn="l">
              <a:lnSpc>
                <a:spcPct val="105000"/>
              </a:lnSpc>
              <a:spcAft>
                <a:spcPts val="800"/>
              </a:spcAft>
              <a:buClr>
                <a:srgbClr val="BD0026"/>
              </a:buClr>
              <a:buChar char="•"/>
            </a:pPr>
            <a:r>
              <a:rPr sz="1500" b="0" i="0">
                <a:solidFill>
                  <a:srgbClr val="1F2933"/>
                </a:solidFill>
                <a:latin typeface="Calibri"/>
              </a:rPr>
              <a:t>built_surface: total built-up (m² per cell, 0–10,000); built_surface_nres: non-residential part</a:t>
            </a:r>
          </a:p>
          <a:p>
            <a:pPr marL="285750" indent="-285750" algn="l">
              <a:lnSpc>
                <a:spcPct val="105000"/>
              </a:lnSpc>
              <a:spcAft>
                <a:spcPts val="800"/>
              </a:spcAft>
              <a:buClr>
                <a:srgbClr val="BD0026"/>
              </a:buClr>
              <a:buChar char="•"/>
            </a:pPr>
            <a:r>
              <a:rPr sz="1500" b="0" i="0">
                <a:solidFill>
                  <a:srgbClr val="1F2933"/>
                </a:solidFill>
                <a:latin typeface="Calibri"/>
              </a:rPr>
              <a:t>Residential = total − non-residential (residual)</a:t>
            </a:r>
          </a:p>
          <a:p>
            <a:pPr marL="285750" indent="-285750" algn="l">
              <a:lnSpc>
                <a:spcPct val="105000"/>
              </a:lnSpc>
              <a:spcAft>
                <a:spcPts val="800"/>
              </a:spcAft>
              <a:buClr>
                <a:srgbClr val="BD0026"/>
              </a:buClr>
              <a:buChar char="•"/>
            </a:pPr>
            <a:r>
              <a:rPr sz="1500" b="0" i="0">
                <a:solidFill>
                  <a:srgbClr val="1F2933"/>
                </a:solidFill>
                <a:latin typeface="Calibri"/>
              </a:rPr>
              <a:t>City polygon (OpenStreetMap): about 277 km²</a:t>
            </a:r>
          </a:p>
          <a:p>
            <a:pPr marL="285750" indent="-285750" algn="l">
              <a:lnSpc>
                <a:spcPct val="105000"/>
              </a:lnSpc>
              <a:spcAft>
                <a:spcPts val="800"/>
              </a:spcAft>
              <a:buClr>
                <a:srgbClr val="BD0026"/>
              </a:buClr>
              <a:buChar char="•"/>
            </a:pPr>
            <a:r>
              <a:rPr sz="1500" b="0" i="0">
                <a:solidFill>
                  <a:srgbClr val="1F2933"/>
                </a:solidFill>
                <a:latin typeface="Calibri"/>
              </a:rPr>
              <a:t>District polygon (FAO GAUL 2015, level 2): about 2,530 km²</a:t>
            </a:r>
          </a:p>
          <a:p>
            <a:pPr marL="285750" indent="-285750" algn="l">
              <a:lnSpc>
                <a:spcPct val="105000"/>
              </a:lnSpc>
              <a:spcAft>
                <a:spcPts val="800"/>
              </a:spcAft>
              <a:buClr>
                <a:srgbClr val="BD0026"/>
              </a:buClr>
              <a:buChar char="•"/>
            </a:pPr>
            <a:r>
              <a:rPr sz="1500" b="0" i="0">
                <a:solidFill>
                  <a:srgbClr val="1F2933"/>
                </a:solidFill>
                <a:latin typeface="Calibri"/>
              </a:rPr>
              <a:t>Both analysed: the city polygon is the main result, the district shows the wider area</a:t>
            </a:r>
          </a:p>
        </p:txBody>
      </p:sp>
      <p:pic>
        <p:nvPicPr>
          <p:cNvPr id="10" name="Picture 9" descr="city.png">
            <a:extLst>
              <a:ext uri="{FF2B5EF4-FFF2-40B4-BE49-F238E27FC236}">
                <a16:creationId xmlns:a16="http://schemas.microsoft.com/office/drawing/2014/main" id="{D2494250-B007-4D21-D197-32A36FCDFBD1}"/>
              </a:ext>
            </a:extLst>
          </p:cNvPr>
          <p:cNvPicPr>
            <a:picLocks noChangeAspect="1"/>
          </p:cNvPicPr>
          <p:nvPr/>
        </p:nvPicPr>
        <p:blipFill>
          <a:blip r:embed="rId2"/>
          <a:stretch>
            <a:fillRect/>
          </a:stretch>
        </p:blipFill>
        <p:spPr>
          <a:xfrm>
            <a:off x="6537960" y="1188720"/>
            <a:ext cx="5029200" cy="5029200"/>
          </a:xfrm>
          <a:prstGeom prst="rect">
            <a:avLst/>
          </a:prstGeom>
        </p:spPr>
      </p:pic>
    </p:spTree>
    <p:extLst>
      <p:ext uri="{BB962C8B-B14F-4D97-AF65-F5344CB8AC3E}">
        <p14:creationId xmlns:p14="http://schemas.microsoft.com/office/powerpoint/2010/main" val="1604704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D4042FF-72D8-00F8-A6B9-6C5B3716E9F7}"/>
              </a:ext>
            </a:extLst>
          </p:cNvPr>
          <p:cNvSpPr txBox="1"/>
          <p:nvPr/>
        </p:nvSpPr>
        <p:spPr>
          <a:xfrm>
            <a:off x="725629" y="320040"/>
            <a:ext cx="10972800" cy="489493"/>
          </a:xfrm>
          <a:prstGeom prst="rect">
            <a:avLst/>
          </a:prstGeom>
          <a:noFill/>
        </p:spPr>
        <p:txBody>
          <a:bodyPr wrap="square" lIns="45720" tIns="27432" rIns="45720" bIns="27432" anchor="t">
            <a:spAutoFit/>
          </a:bodyPr>
          <a:lstStyle/>
          <a:p>
            <a:pPr algn="l">
              <a:lnSpc>
                <a:spcPct val="105000"/>
              </a:lnSpc>
              <a:spcAft>
                <a:spcPts val="600"/>
              </a:spcAft>
            </a:pPr>
            <a:r>
              <a:rPr sz="2800" b="1" i="0" dirty="0">
                <a:solidFill>
                  <a:srgbClr val="FF0000"/>
                </a:solidFill>
                <a:latin typeface="Calibri"/>
              </a:rPr>
              <a:t>Dynamic output: built-up surface through time</a:t>
            </a:r>
          </a:p>
        </p:txBody>
      </p:sp>
      <p:pic>
        <p:nvPicPr>
          <p:cNvPr id="6" name="Picture 5" descr="lucknow_builtup_dark_2000.png">
            <a:extLst>
              <a:ext uri="{FF2B5EF4-FFF2-40B4-BE49-F238E27FC236}">
                <a16:creationId xmlns:a16="http://schemas.microsoft.com/office/drawing/2014/main" id="{80B1E536-59C1-1E39-F66E-285A82587392}"/>
              </a:ext>
            </a:extLst>
          </p:cNvPr>
          <p:cNvPicPr>
            <a:picLocks noChangeAspect="1"/>
          </p:cNvPicPr>
          <p:nvPr/>
        </p:nvPicPr>
        <p:blipFill>
          <a:blip r:embed="rId2"/>
          <a:stretch>
            <a:fillRect/>
          </a:stretch>
        </p:blipFill>
        <p:spPr>
          <a:xfrm>
            <a:off x="645970" y="1097280"/>
            <a:ext cx="3554379" cy="4023360"/>
          </a:xfrm>
          <a:prstGeom prst="rect">
            <a:avLst/>
          </a:prstGeom>
        </p:spPr>
      </p:pic>
      <p:pic>
        <p:nvPicPr>
          <p:cNvPr id="8" name="Picture 7" descr="lucknow_builtup_dark_2010.png">
            <a:extLst>
              <a:ext uri="{FF2B5EF4-FFF2-40B4-BE49-F238E27FC236}">
                <a16:creationId xmlns:a16="http://schemas.microsoft.com/office/drawing/2014/main" id="{90C3C045-D5CF-1A66-C673-7B1BCDB3CA6C}"/>
              </a:ext>
            </a:extLst>
          </p:cNvPr>
          <p:cNvPicPr>
            <a:picLocks noChangeAspect="1"/>
          </p:cNvPicPr>
          <p:nvPr/>
        </p:nvPicPr>
        <p:blipFill>
          <a:blip r:embed="rId3"/>
          <a:stretch>
            <a:fillRect/>
          </a:stretch>
        </p:blipFill>
        <p:spPr>
          <a:xfrm>
            <a:off x="4395010" y="1097280"/>
            <a:ext cx="3554379" cy="4023360"/>
          </a:xfrm>
          <a:prstGeom prst="rect">
            <a:avLst/>
          </a:prstGeom>
        </p:spPr>
      </p:pic>
      <p:pic>
        <p:nvPicPr>
          <p:cNvPr id="10" name="Picture 9" descr="dark2020.png">
            <a:extLst>
              <a:ext uri="{FF2B5EF4-FFF2-40B4-BE49-F238E27FC236}">
                <a16:creationId xmlns:a16="http://schemas.microsoft.com/office/drawing/2014/main" id="{8D0E7CA6-D541-2048-13EA-C4FA9440B437}"/>
              </a:ext>
            </a:extLst>
          </p:cNvPr>
          <p:cNvPicPr>
            <a:picLocks noChangeAspect="1"/>
          </p:cNvPicPr>
          <p:nvPr/>
        </p:nvPicPr>
        <p:blipFill>
          <a:blip r:embed="rId4"/>
          <a:stretch>
            <a:fillRect/>
          </a:stretch>
        </p:blipFill>
        <p:spPr>
          <a:xfrm>
            <a:off x="8144050" y="1097280"/>
            <a:ext cx="3554379" cy="4023360"/>
          </a:xfrm>
          <a:prstGeom prst="rect">
            <a:avLst/>
          </a:prstGeom>
        </p:spPr>
      </p:pic>
      <p:sp>
        <p:nvSpPr>
          <p:cNvPr id="12" name="TextBox 11">
            <a:extLst>
              <a:ext uri="{FF2B5EF4-FFF2-40B4-BE49-F238E27FC236}">
                <a16:creationId xmlns:a16="http://schemas.microsoft.com/office/drawing/2014/main" id="{0E7189C0-F94C-CCF5-CB40-B2F68F63C5D0}"/>
              </a:ext>
            </a:extLst>
          </p:cNvPr>
          <p:cNvSpPr txBox="1"/>
          <p:nvPr/>
        </p:nvSpPr>
        <p:spPr>
          <a:xfrm>
            <a:off x="640080" y="5257800"/>
            <a:ext cx="10972800" cy="607282"/>
          </a:xfrm>
          <a:prstGeom prst="rect">
            <a:avLst/>
          </a:prstGeom>
          <a:noFill/>
        </p:spPr>
        <p:txBody>
          <a:bodyPr wrap="square" lIns="45720" tIns="27432" rIns="45720" bIns="27432" anchor="t">
            <a:spAutoFit/>
          </a:bodyPr>
          <a:lstStyle/>
          <a:p>
            <a:pPr marL="285750" indent="-285750" algn="l">
              <a:lnSpc>
                <a:spcPct val="105000"/>
              </a:lnSpc>
              <a:spcAft>
                <a:spcPts val="600"/>
              </a:spcAft>
              <a:buClr>
                <a:srgbClr val="BD0026"/>
              </a:buClr>
              <a:buChar char="•"/>
            </a:pPr>
            <a:r>
              <a:rPr sz="1500" b="0" i="0" dirty="0">
                <a:solidFill>
                  <a:srgbClr val="FF0000"/>
                </a:solidFill>
                <a:latin typeface="Calibri"/>
              </a:rPr>
              <a:t>Yearly animation 2000–2020 (GIF; yearly values interpolated between 5-year epochs) and an HTML player with year slider</a:t>
            </a:r>
          </a:p>
          <a:p>
            <a:pPr marL="285750" indent="-285750" algn="l">
              <a:lnSpc>
                <a:spcPct val="105000"/>
              </a:lnSpc>
              <a:spcAft>
                <a:spcPts val="600"/>
              </a:spcAft>
              <a:buClr>
                <a:srgbClr val="BD0026"/>
              </a:buClr>
              <a:buChar char="•"/>
            </a:pPr>
            <a:r>
              <a:rPr sz="1500" b="0" i="0" dirty="0">
                <a:solidFill>
                  <a:srgbClr val="FF0000"/>
                </a:solidFill>
                <a:latin typeface="Calibri"/>
              </a:rPr>
              <a:t>Leaflet time slider on OpenStreetMap; both are on the project webpage. Colour scale 0–8,000 m² per 100 m cell</a:t>
            </a:r>
          </a:p>
        </p:txBody>
      </p:sp>
    </p:spTree>
    <p:extLst>
      <p:ext uri="{BB962C8B-B14F-4D97-AF65-F5344CB8AC3E}">
        <p14:creationId xmlns:p14="http://schemas.microsoft.com/office/powerpoint/2010/main" val="832661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Dataset: GHSL Built-up Surface</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4535424"/>
        </p:xfrm>
        <a:graphic>
          <a:graphicData uri="http://schemas.openxmlformats.org/drawingml/2006/table">
            <a:tbl>
              <a:tblPr/>
              <a:tblGrid>
                <a:gridCol w="192024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566928">
                <a:tc>
                  <a:txBody>
                    <a:bodyPr/>
                    <a:lstStyle/>
                    <a:p>
                      <a:pPr marL="0" indent="0">
                        <a:buNone/>
                      </a:pPr>
                      <a:r>
                        <a:rPr lang="en-US" sz="1400" b="1" dirty="0">
                          <a:solidFill>
                            <a:srgbClr val="FFFFFF"/>
                          </a:solidFill>
                        </a:rPr>
                        <a:t>Item</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tc>
                  <a:txBody>
                    <a:bodyPr/>
                    <a:lstStyle/>
                    <a:p>
                      <a:pPr marL="0" indent="0">
                        <a:buNone/>
                      </a:pPr>
                      <a:r>
                        <a:rPr lang="en-US" sz="1400" b="1" dirty="0">
                          <a:solidFill>
                            <a:srgbClr val="FFFFFF"/>
                          </a:solidFill>
                        </a:rPr>
                        <a:t>Value</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1B1B2F"/>
                          </a:solidFill>
                        </a:rPr>
                        <a:t>Earth Engine ID</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buNone/>
                      </a:pPr>
                      <a:r>
                        <a:rPr lang="en-US" sz="1400" dirty="0">
                          <a:solidFill>
                            <a:srgbClr val="1B1B2F"/>
                          </a:solidFill>
                        </a:rPr>
                        <a:t>JRC/GHSL/P2023A/GHS_BUILT_S</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1B1B2F"/>
                          </a:solidFill>
                        </a:rPr>
                        <a:t>Resolution</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buNone/>
                      </a:pPr>
                      <a:r>
                        <a:rPr lang="en-US" sz="1400" dirty="0">
                          <a:solidFill>
                            <a:srgbClr val="1B1B2F"/>
                          </a:solidFill>
                        </a:rPr>
                        <a:t>100 m grid</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1B1B2F"/>
                          </a:solidFill>
                        </a:rPr>
                        <a:t>Epochs used</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buNone/>
                      </a:pPr>
                      <a:r>
                        <a:rPr lang="en-US" sz="1400" dirty="0">
                          <a:solidFill>
                            <a:srgbClr val="1B1B2F"/>
                          </a:solidFill>
                        </a:rPr>
                        <a:t>2000, 2005, 2010, 2015, 2020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1B1B2F"/>
                          </a:solidFill>
                        </a:rPr>
                        <a:t>Bands</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buNone/>
                      </a:pPr>
                      <a:r>
                        <a:rPr lang="en-US" sz="1400" dirty="0">
                          <a:solidFill>
                            <a:srgbClr val="1B1B2F"/>
                          </a:solidFill>
                        </a:rPr>
                        <a:t>built_surface, built_surface_nres</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rgbClr val="1B1B2F"/>
                          </a:solidFill>
                        </a:rPr>
                        <a:t>Unit</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buNone/>
                      </a:pPr>
                      <a:r>
                        <a:rPr lang="en-US" sz="1400" dirty="0">
                          <a:solidFill>
                            <a:srgbClr val="1B1B2F"/>
                          </a:solidFill>
                        </a:rPr>
                        <a:t>m² of built-up surface per cell (0–10,000)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400" b="1" dirty="0">
                          <a:solidFill>
                            <a:srgbClr val="1B1B2F"/>
                          </a:solidFill>
                        </a:rPr>
                        <a:t>Residential</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buNone/>
                      </a:pPr>
                      <a:r>
                        <a:rPr lang="en-US" sz="1400" dirty="0">
                          <a:solidFill>
                            <a:srgbClr val="1B1B2F"/>
                          </a:solidFill>
                        </a:rPr>
                        <a:t>total − non-residential (residual)</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6"/>
                  </a:ext>
                </a:extLst>
              </a:tr>
              <a:tr h="566928">
                <a:tc>
                  <a:txBody>
                    <a:bodyPr/>
                    <a:lstStyle/>
                    <a:p>
                      <a:pPr marL="0" indent="0">
                        <a:buNone/>
                      </a:pPr>
                      <a:r>
                        <a:rPr lang="en-US" sz="1400" b="1" dirty="0">
                          <a:solidFill>
                            <a:srgbClr val="1B1B2F"/>
                          </a:solidFill>
                        </a:rPr>
                        <a:t>Aggregation</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buNone/>
                      </a:pPr>
                      <a:r>
                        <a:rPr lang="en-US" sz="1400" dirty="0">
                          <a:solidFill>
                            <a:srgbClr val="1B1B2F"/>
                          </a:solidFill>
                        </a:rPr>
                        <a:t>Sum inside boundary, scale 100 m</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cellCard"/>
          <p:cNvSpPr/>
          <p:nvPr/>
        </p:nvSpPr>
        <p:spPr>
          <a:xfrm>
            <a:off x="7680960" y="1325880"/>
            <a:ext cx="3931920" cy="4572000"/>
          </a:xfrm>
          <a:prstGeom prst="roundRect">
            <a:avLst>
              <a:gd name="adj" fmla="val 186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3" name="Text 2"/>
          <p:cNvSpPr txBox="1"/>
          <p:nvPr/>
        </p:nvSpPr>
        <p:spPr>
          <a:xfrm>
            <a:off x="7909560" y="1463040"/>
            <a:ext cx="3474720" cy="365760"/>
          </a:xfrm>
          <a:prstGeom prst="rect">
            <a:avLst/>
          </a:prstGeom>
          <a:noFill/>
          <a:ln/>
        </p:spPr>
        <p:txBody>
          <a:bodyPr wrap="square" lIns="0" tIns="0" rIns="0" bIns="0" rtlCol="0" anchor="t"/>
          <a:lstStyle/>
          <a:p>
            <a:pPr marL="0" indent="0">
              <a:buNone/>
            </a:pPr>
            <a:r>
              <a:rPr lang="en-US" sz="1600" b="1" dirty="0">
                <a:solidFill>
                  <a:schemeClr val="accent2"/>
                </a:solidFill>
              </a:rPr>
              <a:t>One 100 m cell (illustrative)</a:t>
            </a:r>
            <a:endParaRPr lang="en-US" sz="1600" dirty="0"/>
          </a:p>
        </p:txBody>
      </p:sp>
      <p:sp>
        <p:nvSpPr>
          <p:cNvPr id="7" name="cellOutline"/>
          <p:cNvSpPr/>
          <p:nvPr/>
        </p:nvSpPr>
        <p:spPr>
          <a:xfrm>
            <a:off x="8183880" y="2011680"/>
            <a:ext cx="1828800" cy="1828800"/>
          </a:xfrm>
          <a:prstGeom prst="rect">
            <a:avLst/>
          </a:prstGeom>
          <a:solidFill>
            <a:schemeClr val="bg1"/>
          </a:solidFill>
          <a:ln w="19050">
            <a:solidFill>
              <a:schemeClr val="tx1"/>
            </a:solidFill>
            <a:prstDash val="solid"/>
          </a:ln>
        </p:spPr>
      </p:sp>
      <p:sp>
        <p:nvSpPr>
          <p:cNvPr id="8" name="cellBuilt"/>
          <p:cNvSpPr/>
          <p:nvPr/>
        </p:nvSpPr>
        <p:spPr>
          <a:xfrm>
            <a:off x="8183880" y="2926080"/>
            <a:ext cx="1828800" cy="914400"/>
          </a:xfrm>
          <a:prstGeom prst="rect">
            <a:avLst/>
          </a:prstGeom>
          <a:solidFill>
            <a:schemeClr val="accent1"/>
          </a:solidFill>
          <a:ln w="12700">
            <a:solidFill>
              <a:schemeClr val="accent1"/>
            </a:solidFill>
            <a:prstDash val="solid"/>
          </a:ln>
        </p:spPr>
      </p:sp>
      <p:sp>
        <p:nvSpPr>
          <p:cNvPr id="9" name="cellNres"/>
          <p:cNvSpPr/>
          <p:nvPr/>
        </p:nvSpPr>
        <p:spPr>
          <a:xfrm>
            <a:off x="8183880" y="3566160"/>
            <a:ext cx="731520" cy="274320"/>
          </a:xfrm>
          <a:prstGeom prst="rect">
            <a:avLst/>
          </a:prstGeom>
          <a:solidFill>
            <a:schemeClr val="accent2"/>
          </a:solidFill>
          <a:ln w="12700">
            <a:solidFill>
              <a:schemeClr val="accent2"/>
            </a:solidFill>
            <a:prstDash val="solid"/>
          </a:ln>
        </p:spPr>
      </p:sp>
      <p:sp>
        <p:nvSpPr>
          <p:cNvPr id="10" name="Text 6"/>
          <p:cNvSpPr txBox="1"/>
          <p:nvPr/>
        </p:nvSpPr>
        <p:spPr>
          <a:xfrm>
            <a:off x="10149840" y="2011680"/>
            <a:ext cx="1371600" cy="457200"/>
          </a:xfrm>
          <a:prstGeom prst="rect">
            <a:avLst/>
          </a:prstGeom>
          <a:noFill/>
          <a:ln/>
        </p:spPr>
        <p:txBody>
          <a:bodyPr wrap="square" lIns="0" tIns="0" rIns="0" bIns="0" rtlCol="0" anchor="t"/>
          <a:lstStyle/>
          <a:p>
            <a:pPr marL="0" indent="0">
              <a:buNone/>
            </a:pPr>
            <a:r>
              <a:rPr lang="en-US" sz="1400" b="1" dirty="0">
                <a:solidFill>
                  <a:schemeClr val="tx1"/>
                </a:solidFill>
              </a:rPr>
              <a:t>10,000 m² cell</a:t>
            </a:r>
            <a:endParaRPr lang="en-US" sz="1400" dirty="0"/>
          </a:p>
        </p:txBody>
      </p:sp>
      <p:sp>
        <p:nvSpPr>
          <p:cNvPr id="11" name="Text 7"/>
          <p:cNvSpPr txBox="1"/>
          <p:nvPr/>
        </p:nvSpPr>
        <p:spPr>
          <a:xfrm>
            <a:off x="10149840" y="2880360"/>
            <a:ext cx="1371600" cy="548640"/>
          </a:xfrm>
          <a:prstGeom prst="rect">
            <a:avLst/>
          </a:prstGeom>
          <a:noFill/>
          <a:ln/>
        </p:spPr>
        <p:txBody>
          <a:bodyPr wrap="square" lIns="0" tIns="0" rIns="0" bIns="0" rtlCol="0" anchor="t"/>
          <a:lstStyle/>
          <a:p>
            <a:pPr marL="0" indent="0">
              <a:buNone/>
            </a:pPr>
            <a:r>
              <a:rPr lang="en-US" sz="1400" b="1" dirty="0">
                <a:solidFill>
                  <a:schemeClr val="accent1"/>
                </a:solidFill>
              </a:rPr>
              <a:t>Red: built_surface</a:t>
            </a:r>
            <a:endParaRPr lang="en-US" sz="1400" dirty="0"/>
          </a:p>
        </p:txBody>
      </p:sp>
      <p:sp>
        <p:nvSpPr>
          <p:cNvPr id="12" name="Text 8"/>
          <p:cNvSpPr txBox="1"/>
          <p:nvPr/>
        </p:nvSpPr>
        <p:spPr>
          <a:xfrm>
            <a:off x="10149840" y="3474720"/>
            <a:ext cx="1371600" cy="731520"/>
          </a:xfrm>
          <a:prstGeom prst="rect">
            <a:avLst/>
          </a:prstGeom>
          <a:noFill/>
          <a:ln/>
        </p:spPr>
        <p:txBody>
          <a:bodyPr wrap="square" lIns="0" tIns="0" rIns="0" bIns="0" rtlCol="0" anchor="t"/>
          <a:lstStyle/>
          <a:p>
            <a:pPr marL="0" indent="0">
              <a:buNone/>
            </a:pPr>
            <a:r>
              <a:rPr lang="en-US" sz="1400" b="1" dirty="0">
                <a:solidFill>
                  <a:schemeClr val="accent2"/>
                </a:solidFill>
              </a:rPr>
              <a:t>Purple: part that is non-residential</a:t>
            </a:r>
            <a:endParaRPr lang="en-US" sz="1400" dirty="0"/>
          </a:p>
        </p:txBody>
      </p:sp>
      <p:sp>
        <p:nvSpPr>
          <p:cNvPr id="13" name="Text 9"/>
          <p:cNvSpPr txBox="1"/>
          <p:nvPr/>
        </p:nvSpPr>
        <p:spPr>
          <a:xfrm>
            <a:off x="7909560" y="4206240"/>
            <a:ext cx="3474720" cy="1463040"/>
          </a:xfrm>
          <a:prstGeom prst="rect">
            <a:avLst/>
          </a:prstGeom>
          <a:noFill/>
          <a:ln/>
        </p:spPr>
        <p:txBody>
          <a:bodyPr wrap="square" lIns="0" tIns="0" rIns="0" bIns="0" rtlCol="0" anchor="t"/>
          <a:lstStyle/>
          <a:p>
            <a:pPr marL="0" indent="0">
              <a:buNone/>
            </a:pPr>
            <a:r>
              <a:rPr lang="en-US" sz="1400" dirty="0">
                <a:solidFill>
                  <a:schemeClr val="tx1"/>
                </a:solidFill>
              </a:rPr>
              <a:t>Values are areas of built-up surface, not building counts. Cells can be partly built.</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Method workflow in Google Earth Engine</a:t>
            </a:r>
            <a:endParaRPr lang="en-US" sz="3200" dirty="0"/>
          </a:p>
        </p:txBody>
      </p:sp>
      <p:sp>
        <p:nvSpPr>
          <p:cNvPr id="4" name="step1"/>
          <p:cNvSpPr/>
          <p:nvPr/>
        </p:nvSpPr>
        <p:spPr>
          <a:xfrm>
            <a:off x="548640" y="1325880"/>
            <a:ext cx="2103120" cy="3383280"/>
          </a:xfrm>
          <a:prstGeom prst="roundRect">
            <a:avLst>
              <a:gd name="adj" fmla="val 3478"/>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5" name="stepNum1"/>
          <p:cNvSpPr/>
          <p:nvPr/>
        </p:nvSpPr>
        <p:spPr>
          <a:xfrm>
            <a:off x="731520" y="1508760"/>
            <a:ext cx="502920" cy="502920"/>
          </a:xfrm>
          <a:prstGeom prst="ellipse">
            <a:avLst/>
          </a:prstGeom>
          <a:solidFill>
            <a:schemeClr val="accent1"/>
          </a:solidFill>
          <a:ln w="12700">
            <a:solidFill>
              <a:schemeClr val="accent1"/>
            </a:solidFill>
            <a:prstDash val="solid"/>
          </a:ln>
        </p:spPr>
      </p:sp>
      <p:sp>
        <p:nvSpPr>
          <p:cNvPr id="6" name="Text 3"/>
          <p:cNvSpPr txBox="1"/>
          <p:nvPr/>
        </p:nvSpPr>
        <p:spPr>
          <a:xfrm>
            <a:off x="731520" y="1508760"/>
            <a:ext cx="502920" cy="50292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4"/>
          <p:cNvSpPr txBox="1"/>
          <p:nvPr/>
        </p:nvSpPr>
        <p:spPr>
          <a:xfrm>
            <a:off x="731520" y="2148840"/>
            <a:ext cx="1783080" cy="41148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Boundary</a:t>
            </a:r>
            <a:endParaRPr lang="en-US" sz="1800" dirty="0"/>
          </a:p>
        </p:txBody>
      </p:sp>
      <p:sp>
        <p:nvSpPr>
          <p:cNvPr id="8" name="Text 5"/>
          <p:cNvSpPr txBox="1"/>
          <p:nvPr/>
        </p:nvSpPr>
        <p:spPr>
          <a:xfrm>
            <a:off x="731520" y="2651760"/>
            <a:ext cx="1783080" cy="2011680"/>
          </a:xfrm>
          <a:prstGeom prst="rect">
            <a:avLst/>
          </a:prstGeom>
          <a:noFill/>
          <a:ln/>
        </p:spPr>
        <p:txBody>
          <a:bodyPr wrap="square" lIns="0" tIns="0" rIns="0" bIns="0" rtlCol="0" anchor="t"/>
          <a:lstStyle/>
          <a:p>
            <a:pPr marL="0" indent="0">
              <a:buNone/>
            </a:pPr>
            <a:r>
              <a:rPr lang="en-US" sz="1500" dirty="0">
                <a:solidFill>
                  <a:schemeClr val="tx1"/>
                </a:solidFill>
              </a:rPr>
              <a:t>Lucknow municipal polygon (277 km²) plus the FAO GAUL district for context; GeoDataFrame → Earth Engine geometry.</a:t>
            </a:r>
            <a:endParaRPr lang="en-US" sz="1500" dirty="0"/>
          </a:p>
        </p:txBody>
      </p:sp>
      <p:sp>
        <p:nvSpPr>
          <p:cNvPr id="9" name="step2"/>
          <p:cNvSpPr/>
          <p:nvPr/>
        </p:nvSpPr>
        <p:spPr>
          <a:xfrm>
            <a:off x="2834640" y="1325880"/>
            <a:ext cx="2103120" cy="3383280"/>
          </a:xfrm>
          <a:prstGeom prst="roundRect">
            <a:avLst>
              <a:gd name="adj" fmla="val 3478"/>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0" name="stepNum2"/>
          <p:cNvSpPr/>
          <p:nvPr/>
        </p:nvSpPr>
        <p:spPr>
          <a:xfrm>
            <a:off x="3017520" y="1508760"/>
            <a:ext cx="502920" cy="502920"/>
          </a:xfrm>
          <a:prstGeom prst="ellipse">
            <a:avLst/>
          </a:prstGeom>
          <a:solidFill>
            <a:schemeClr val="accent1"/>
          </a:solidFill>
          <a:ln w="12700">
            <a:solidFill>
              <a:schemeClr val="accent1"/>
            </a:solidFill>
            <a:prstDash val="solid"/>
          </a:ln>
        </p:spPr>
      </p:sp>
      <p:sp>
        <p:nvSpPr>
          <p:cNvPr id="11" name="Text 8"/>
          <p:cNvSpPr txBox="1"/>
          <p:nvPr/>
        </p:nvSpPr>
        <p:spPr>
          <a:xfrm>
            <a:off x="3017520" y="1508760"/>
            <a:ext cx="502920" cy="50292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9"/>
          <p:cNvSpPr txBox="1"/>
          <p:nvPr/>
        </p:nvSpPr>
        <p:spPr>
          <a:xfrm>
            <a:off x="3017520" y="2148840"/>
            <a:ext cx="1783080" cy="41148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Load epochs</a:t>
            </a:r>
            <a:endParaRPr lang="en-US" sz="1800" dirty="0"/>
          </a:p>
        </p:txBody>
      </p:sp>
      <p:sp>
        <p:nvSpPr>
          <p:cNvPr id="13" name="Text 10"/>
          <p:cNvSpPr txBox="1"/>
          <p:nvPr/>
        </p:nvSpPr>
        <p:spPr>
          <a:xfrm>
            <a:off x="3017520" y="2651760"/>
            <a:ext cx="1783080" cy="2011680"/>
          </a:xfrm>
          <a:prstGeom prst="rect">
            <a:avLst/>
          </a:prstGeom>
          <a:noFill/>
          <a:ln/>
        </p:spPr>
        <p:txBody>
          <a:bodyPr wrap="square" lIns="0" tIns="0" rIns="0" bIns="0" rtlCol="0" anchor="t"/>
          <a:lstStyle/>
          <a:p>
            <a:pPr marL="0" indent="0">
              <a:buNone/>
            </a:pPr>
            <a:r>
              <a:rPr lang="en-US" sz="1500" dirty="0">
                <a:solidFill>
                  <a:schemeClr val="tx1"/>
                </a:solidFill>
              </a:rPr>
              <a:t>GHS_BUILT_S collection; one image per epoch: 2000, 2005, 2010, 2015, 2020.</a:t>
            </a:r>
            <a:endParaRPr lang="en-US" sz="1500" dirty="0"/>
          </a:p>
        </p:txBody>
      </p:sp>
      <p:sp>
        <p:nvSpPr>
          <p:cNvPr id="14" name="step3"/>
          <p:cNvSpPr/>
          <p:nvPr/>
        </p:nvSpPr>
        <p:spPr>
          <a:xfrm>
            <a:off x="5120640" y="1325880"/>
            <a:ext cx="2103120" cy="3383280"/>
          </a:xfrm>
          <a:prstGeom prst="roundRect">
            <a:avLst>
              <a:gd name="adj" fmla="val 3478"/>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5" name="stepNum3"/>
          <p:cNvSpPr/>
          <p:nvPr/>
        </p:nvSpPr>
        <p:spPr>
          <a:xfrm>
            <a:off x="5303520" y="1508760"/>
            <a:ext cx="502920" cy="502920"/>
          </a:xfrm>
          <a:prstGeom prst="ellipse">
            <a:avLst/>
          </a:prstGeom>
          <a:solidFill>
            <a:schemeClr val="accent1"/>
          </a:solidFill>
          <a:ln w="12700">
            <a:solidFill>
              <a:schemeClr val="accent1"/>
            </a:solidFill>
            <a:prstDash val="solid"/>
          </a:ln>
        </p:spPr>
      </p:sp>
      <p:sp>
        <p:nvSpPr>
          <p:cNvPr id="16" name="Text 13"/>
          <p:cNvSpPr txBox="1"/>
          <p:nvPr/>
        </p:nvSpPr>
        <p:spPr>
          <a:xfrm>
            <a:off x="5303520" y="1508760"/>
            <a:ext cx="502920" cy="50292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7" name="Text 14"/>
          <p:cNvSpPr txBox="1"/>
          <p:nvPr/>
        </p:nvSpPr>
        <p:spPr>
          <a:xfrm>
            <a:off x="5303520" y="2148840"/>
            <a:ext cx="1783080" cy="41148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Prepare</a:t>
            </a:r>
            <a:endParaRPr lang="en-US" sz="1800" dirty="0"/>
          </a:p>
        </p:txBody>
      </p:sp>
      <p:sp>
        <p:nvSpPr>
          <p:cNvPr id="18" name="Text 15"/>
          <p:cNvSpPr txBox="1"/>
          <p:nvPr/>
        </p:nvSpPr>
        <p:spPr>
          <a:xfrm>
            <a:off x="5303520" y="2651760"/>
            <a:ext cx="1783080" cy="2011680"/>
          </a:xfrm>
          <a:prstGeom prst="rect">
            <a:avLst/>
          </a:prstGeom>
          <a:noFill/>
          <a:ln/>
        </p:spPr>
        <p:txBody>
          <a:bodyPr wrap="square" lIns="0" tIns="0" rIns="0" bIns="0" rtlCol="0" anchor="t"/>
          <a:lstStyle/>
          <a:p>
            <a:pPr marL="0" indent="0">
              <a:buNone/>
            </a:pPr>
            <a:r>
              <a:rPr lang="en-US" sz="1500" dirty="0">
                <a:solidFill>
                  <a:schemeClr val="tx1"/>
                </a:solidFill>
              </a:rPr>
              <a:t>Select built_surface and built_surface_nres; clip to the boundary; keep the native 100 m grid.</a:t>
            </a:r>
            <a:endParaRPr lang="en-US" sz="1500" dirty="0"/>
          </a:p>
        </p:txBody>
      </p:sp>
      <p:sp>
        <p:nvSpPr>
          <p:cNvPr id="19" name="step4"/>
          <p:cNvSpPr/>
          <p:nvPr/>
        </p:nvSpPr>
        <p:spPr>
          <a:xfrm>
            <a:off x="7406640" y="1325880"/>
            <a:ext cx="2103120" cy="3383280"/>
          </a:xfrm>
          <a:prstGeom prst="roundRect">
            <a:avLst>
              <a:gd name="adj" fmla="val 3478"/>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20" name="stepNum4"/>
          <p:cNvSpPr/>
          <p:nvPr/>
        </p:nvSpPr>
        <p:spPr>
          <a:xfrm>
            <a:off x="7589520" y="1508760"/>
            <a:ext cx="502920" cy="502920"/>
          </a:xfrm>
          <a:prstGeom prst="ellipse">
            <a:avLst/>
          </a:prstGeom>
          <a:solidFill>
            <a:schemeClr val="accent1"/>
          </a:solidFill>
          <a:ln w="12700">
            <a:solidFill>
              <a:schemeClr val="accent1"/>
            </a:solidFill>
            <a:prstDash val="solid"/>
          </a:ln>
        </p:spPr>
      </p:sp>
      <p:sp>
        <p:nvSpPr>
          <p:cNvPr id="21" name="Text 18"/>
          <p:cNvSpPr txBox="1"/>
          <p:nvPr/>
        </p:nvSpPr>
        <p:spPr>
          <a:xfrm>
            <a:off x="7589520" y="1508760"/>
            <a:ext cx="502920" cy="50292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2" name="Text 19"/>
          <p:cNvSpPr txBox="1"/>
          <p:nvPr/>
        </p:nvSpPr>
        <p:spPr>
          <a:xfrm>
            <a:off x="7589520" y="2148840"/>
            <a:ext cx="1783080" cy="41148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Statistics</a:t>
            </a:r>
            <a:endParaRPr lang="en-US" sz="1800" dirty="0"/>
          </a:p>
        </p:txBody>
      </p:sp>
      <p:sp>
        <p:nvSpPr>
          <p:cNvPr id="23" name="Text 20"/>
          <p:cNvSpPr txBox="1"/>
          <p:nvPr/>
        </p:nvSpPr>
        <p:spPr>
          <a:xfrm>
            <a:off x="7589520" y="2651760"/>
            <a:ext cx="1783080" cy="2011680"/>
          </a:xfrm>
          <a:prstGeom prst="rect">
            <a:avLst/>
          </a:prstGeom>
          <a:noFill/>
          <a:ln/>
        </p:spPr>
        <p:txBody>
          <a:bodyPr wrap="square" lIns="0" tIns="0" rIns="0" bIns="0" rtlCol="0" anchor="t"/>
          <a:lstStyle/>
          <a:p>
            <a:pPr marL="0" indent="0">
              <a:buNone/>
            </a:pPr>
            <a:r>
              <a:rPr lang="en-US" sz="1500" dirty="0">
                <a:solidFill>
                  <a:schemeClr val="tx1"/>
                </a:solidFill>
              </a:rPr>
              <a:t>Sum m² inside boundary → km²; change, %, annual growth, shares, cell-level gain and loss.</a:t>
            </a:r>
            <a:endParaRPr lang="en-US" sz="1500" dirty="0"/>
          </a:p>
        </p:txBody>
      </p:sp>
      <p:sp>
        <p:nvSpPr>
          <p:cNvPr id="24" name="step5"/>
          <p:cNvSpPr/>
          <p:nvPr/>
        </p:nvSpPr>
        <p:spPr>
          <a:xfrm>
            <a:off x="9692640" y="1325880"/>
            <a:ext cx="2103120" cy="3383280"/>
          </a:xfrm>
          <a:prstGeom prst="roundRect">
            <a:avLst>
              <a:gd name="adj" fmla="val 3478"/>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25" name="stepNum5"/>
          <p:cNvSpPr/>
          <p:nvPr/>
        </p:nvSpPr>
        <p:spPr>
          <a:xfrm>
            <a:off x="9875520" y="1508760"/>
            <a:ext cx="502920" cy="502920"/>
          </a:xfrm>
          <a:prstGeom prst="ellipse">
            <a:avLst/>
          </a:prstGeom>
          <a:solidFill>
            <a:schemeClr val="accent1"/>
          </a:solidFill>
          <a:ln w="12700">
            <a:solidFill>
              <a:schemeClr val="accent1"/>
            </a:solidFill>
            <a:prstDash val="solid"/>
          </a:ln>
        </p:spPr>
      </p:sp>
      <p:sp>
        <p:nvSpPr>
          <p:cNvPr id="26" name="Text 23"/>
          <p:cNvSpPr txBox="1"/>
          <p:nvPr/>
        </p:nvSpPr>
        <p:spPr>
          <a:xfrm>
            <a:off x="9875520" y="1508760"/>
            <a:ext cx="502920" cy="50292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7" name="Text 24"/>
          <p:cNvSpPr txBox="1"/>
          <p:nvPr/>
        </p:nvSpPr>
        <p:spPr>
          <a:xfrm>
            <a:off x="9875520" y="2148840"/>
            <a:ext cx="1783080" cy="41148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Outputs</a:t>
            </a:r>
            <a:endParaRPr lang="en-US" sz="1800" dirty="0"/>
          </a:p>
        </p:txBody>
      </p:sp>
      <p:sp>
        <p:nvSpPr>
          <p:cNvPr id="28" name="Text 25"/>
          <p:cNvSpPr txBox="1"/>
          <p:nvPr/>
        </p:nvSpPr>
        <p:spPr>
          <a:xfrm>
            <a:off x="9875520" y="2651760"/>
            <a:ext cx="1783080" cy="2011680"/>
          </a:xfrm>
          <a:prstGeom prst="rect">
            <a:avLst/>
          </a:prstGeom>
          <a:noFill/>
          <a:ln/>
        </p:spPr>
        <p:txBody>
          <a:bodyPr wrap="square" lIns="0" tIns="0" rIns="0" bIns="0" rtlCol="0" anchor="t"/>
          <a:lstStyle/>
          <a:p>
            <a:pPr marL="0" indent="0">
              <a:buNone/>
            </a:pPr>
            <a:r>
              <a:rPr lang="en-US" sz="1500" dirty="0">
                <a:solidFill>
                  <a:schemeClr val="tx1"/>
                </a:solidFill>
              </a:rPr>
              <a:t>Epoch maps, change maps, 2 km gain grid, GIF and HTML time slider.</a:t>
            </a:r>
            <a:endParaRPr lang="en-US" sz="1500" dirty="0"/>
          </a:p>
        </p:txBody>
      </p:sp>
      <p:sp>
        <p:nvSpPr>
          <p:cNvPr id="29" name="rulesCard"/>
          <p:cNvSpPr/>
          <p:nvPr/>
        </p:nvSpPr>
        <p:spPr>
          <a:xfrm>
            <a:off x="548640" y="5029200"/>
            <a:ext cx="11064240" cy="1097280"/>
          </a:xfrm>
          <a:prstGeom prst="roundRect">
            <a:avLst>
              <a:gd name="adj" fmla="val 6667"/>
            </a:avLst>
          </a:prstGeom>
          <a:solidFill>
            <a:schemeClr val="accent2"/>
          </a:solidFill>
          <a:ln w="12700">
            <a:solidFill>
              <a:schemeClr val="accent2"/>
            </a:solidFill>
            <a:prstDash val="solid"/>
          </a:ln>
          <a:effectLst>
            <a:outerShdw blurRad="76200" dist="25400" dir="5400000" algn="bl" rotWithShape="0">
              <a:srgbClr val="000000">
                <a:alpha val="12000"/>
              </a:srgbClr>
            </a:outerShdw>
          </a:effectLst>
        </p:spPr>
      </p:sp>
      <p:sp>
        <p:nvSpPr>
          <p:cNvPr id="30" name="Text 27"/>
          <p:cNvSpPr txBox="1"/>
          <p:nvPr/>
        </p:nvSpPr>
        <p:spPr>
          <a:xfrm>
            <a:off x="822960" y="5120640"/>
            <a:ext cx="10515600" cy="914400"/>
          </a:xfrm>
          <a:prstGeom prst="rect">
            <a:avLst/>
          </a:prstGeom>
          <a:noFill/>
          <a:ln/>
        </p:spPr>
        <p:txBody>
          <a:bodyPr wrap="square" lIns="0" tIns="0" rIns="0" bIns="0" rtlCol="0" anchor="ctr"/>
          <a:lstStyle/>
          <a:p>
            <a:pPr marL="0" indent="0">
              <a:buNone/>
            </a:pPr>
            <a:r>
              <a:rPr lang="en-US" sz="1600" b="1" dirty="0">
                <a:solidFill>
                  <a:schemeClr val="bg1"/>
                </a:solidFill>
              </a:rPr>
              <a:t>Consistency rules: </a:t>
            </a:r>
            <a:r>
              <a:rPr lang="en-US" sz="1600" dirty="0">
                <a:solidFill>
                  <a:schemeClr val="bg1"/>
                </a:solidFill>
              </a:rPr>
              <a:t>same five epochs everywhere; same colour scale across epochs (0–10,000 m² per cell); same ±3,000 m² scale for both change maps; every visual change backed by a number.</a:t>
            </a:r>
            <a:endParaRPr lang="en-US" sz="1600" dirty="0"/>
          </a:p>
        </p:txBody>
      </p:sp>
      <p:sp>
        <p:nvSpPr>
          <p:cNvPr id="3"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Built-up surface by epoch: municipal area</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2743200"/>
        </p:xfrm>
        <a:graphic>
          <a:graphicData uri="http://schemas.openxmlformats.org/drawingml/2006/table">
            <a:tbl>
              <a:tblPr/>
              <a:tblGrid>
                <a:gridCol w="11887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2103120">
                  <a:extLst>
                    <a:ext uri="{9D8B030D-6E8A-4147-A177-3AD203B41FA5}">
                      <a16:colId xmlns:a16="http://schemas.microsoft.com/office/drawing/2014/main" val="20005"/>
                    </a:ext>
                  </a:extLst>
                </a:gridCol>
              </a:tblGrid>
              <a:tr h="457200">
                <a:tc>
                  <a:txBody>
                    <a:bodyPr/>
                    <a:lstStyle/>
                    <a:p>
                      <a:pPr marL="0" indent="0" algn="l">
                        <a:buNone/>
                      </a:pPr>
                      <a:r>
                        <a:rPr lang="en-US" sz="1400" b="1" dirty="0">
                          <a:solidFill>
                            <a:srgbClr val="FFFFFF"/>
                          </a:solidFill>
                        </a:rPr>
                        <a:t>Year</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tc>
                  <a:txBody>
                    <a:bodyPr/>
                    <a:lstStyle/>
                    <a:p>
                      <a:pPr marL="0" indent="0" algn="ctr">
                        <a:buNone/>
                      </a:pPr>
                      <a:r>
                        <a:rPr lang="en-US" sz="1400" b="1" dirty="0">
                          <a:solidFill>
                            <a:srgbClr val="FFFFFF"/>
                          </a:solidFill>
                        </a:rPr>
                        <a:t>Total (km²)</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tc>
                  <a:txBody>
                    <a:bodyPr/>
                    <a:lstStyle/>
                    <a:p>
                      <a:pPr marL="0" indent="0" algn="ctr">
                        <a:buNone/>
                      </a:pPr>
                      <a:r>
                        <a:rPr lang="en-US" sz="1400" b="1" dirty="0">
                          <a:solidFill>
                            <a:srgbClr val="FFFFFF"/>
                          </a:solidFill>
                        </a:rPr>
                        <a:t>Non-residential (km²)</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tc>
                  <a:txBody>
                    <a:bodyPr/>
                    <a:lstStyle/>
                    <a:p>
                      <a:pPr marL="0" indent="0" algn="ctr">
                        <a:buNone/>
                      </a:pPr>
                      <a:r>
                        <a:rPr lang="en-US" sz="1400" b="1" dirty="0">
                          <a:solidFill>
                            <a:srgbClr val="FFFFFF"/>
                          </a:solidFill>
                        </a:rPr>
                        <a:t>Residential (km²)</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tc>
                  <a:txBody>
                    <a:bodyPr/>
                    <a:lstStyle/>
                    <a:p>
                      <a:pPr marL="0" indent="0" algn="ctr">
                        <a:buNone/>
                      </a:pPr>
                      <a:r>
                        <a:rPr lang="en-US" sz="1400" b="1" dirty="0">
                          <a:solidFill>
                            <a:srgbClr val="FFFFFF"/>
                          </a:solidFill>
                        </a:rPr>
                        <a:t>Non-res. share (%)</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tc>
                  <a:txBody>
                    <a:bodyPr/>
                    <a:lstStyle/>
                    <a:p>
                      <a:pPr marL="0" indent="0" algn="ctr">
                        <a:buNone/>
                      </a:pPr>
                      <a:r>
                        <a:rPr lang="en-US" sz="1400" b="1" dirty="0">
                          <a:solidFill>
                            <a:srgbClr val="FFFFFF"/>
                          </a:solidFill>
                        </a:rPr>
                        <a:t>Built-up / city area (%)</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extLst>
                  <a:ext uri="{0D108BD9-81ED-4DB2-BD59-A6C34878D82A}">
                    <a16:rowId xmlns:a16="http://schemas.microsoft.com/office/drawing/2014/main" val="10000"/>
                  </a:ext>
                </a:extLst>
              </a:tr>
              <a:tr h="457200">
                <a:tc>
                  <a:txBody>
                    <a:bodyPr/>
                    <a:lstStyle/>
                    <a:p>
                      <a:pPr marL="0" indent="0" algn="l">
                        <a:buNone/>
                      </a:pPr>
                      <a:r>
                        <a:rPr lang="en-US" sz="1400" dirty="0">
                          <a:solidFill>
                            <a:srgbClr val="1B1B2F"/>
                          </a:solidFill>
                        </a:rPr>
                        <a:t>2000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55.42</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1.92</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53.50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3.46</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20.0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400" dirty="0">
                          <a:solidFill>
                            <a:srgbClr val="1B1B2F"/>
                          </a:solidFill>
                        </a:rPr>
                        <a:t>2005</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60.58</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2.08</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58.50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3.43</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21.8</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2"/>
                  </a:ext>
                </a:extLst>
              </a:tr>
              <a:tr h="457200">
                <a:tc>
                  <a:txBody>
                    <a:bodyPr/>
                    <a:lstStyle/>
                    <a:p>
                      <a:pPr marL="0" indent="0" algn="l">
                        <a:buNone/>
                      </a:pPr>
                      <a:r>
                        <a:rPr lang="en-US" sz="1400" dirty="0">
                          <a:solidFill>
                            <a:srgbClr val="1B1B2F"/>
                          </a:solidFill>
                        </a:rPr>
                        <a:t>2010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67.10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2.27</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64.83</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3.38</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24.2</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400" dirty="0">
                          <a:solidFill>
                            <a:srgbClr val="1B1B2F"/>
                          </a:solidFill>
                        </a:rPr>
                        <a:t>2015</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73.78</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2.47</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71.31</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3.35</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26.6</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4"/>
                  </a:ext>
                </a:extLst>
              </a:tr>
              <a:tr h="457200">
                <a:tc>
                  <a:txBody>
                    <a:bodyPr/>
                    <a:lstStyle/>
                    <a:p>
                      <a:pPr marL="0" indent="0" algn="l">
                        <a:buNone/>
                      </a:pPr>
                      <a:r>
                        <a:rPr lang="en-US" sz="1400" dirty="0">
                          <a:solidFill>
                            <a:srgbClr val="1B1B2F"/>
                          </a:solidFill>
                        </a:rPr>
                        <a:t>2020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78.08</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2.58</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75.50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3.30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28.2</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insight1"/>
          <p:cNvSpPr/>
          <p:nvPr/>
        </p:nvSpPr>
        <p:spPr>
          <a:xfrm>
            <a:off x="548640" y="4389120"/>
            <a:ext cx="3566160" cy="1691640"/>
          </a:xfrm>
          <a:prstGeom prst="roundRect">
            <a:avLst>
              <a:gd name="adj" fmla="val 432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6" name="Text 2"/>
          <p:cNvSpPr txBox="1"/>
          <p:nvPr/>
        </p:nvSpPr>
        <p:spPr>
          <a:xfrm>
            <a:off x="777240" y="4526280"/>
            <a:ext cx="3108960" cy="365760"/>
          </a:xfrm>
          <a:prstGeom prst="rect">
            <a:avLst/>
          </a:prstGeom>
          <a:noFill/>
          <a:ln/>
        </p:spPr>
        <p:txBody>
          <a:bodyPr wrap="square" lIns="0" tIns="0" rIns="0" bIns="0" rtlCol="0" anchor="t"/>
          <a:lstStyle/>
          <a:p>
            <a:pPr marL="0" indent="0">
              <a:buNone/>
            </a:pPr>
            <a:r>
              <a:rPr lang="en-US" sz="1600" b="1" dirty="0">
                <a:solidFill>
                  <a:schemeClr val="accent1"/>
                </a:solidFill>
              </a:rPr>
              <a:t>Total built-up</a:t>
            </a:r>
            <a:endParaRPr lang="en-US" sz="1600" dirty="0"/>
          </a:p>
        </p:txBody>
      </p:sp>
      <p:sp>
        <p:nvSpPr>
          <p:cNvPr id="7" name="Text 3"/>
          <p:cNvSpPr txBox="1"/>
          <p:nvPr/>
        </p:nvSpPr>
        <p:spPr>
          <a:xfrm>
            <a:off x="777240" y="4937760"/>
            <a:ext cx="3108960" cy="50292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+22.66 km²  (+40.9%)</a:t>
            </a:r>
            <a:endParaRPr lang="en-US" sz="2200" dirty="0"/>
          </a:p>
        </p:txBody>
      </p:sp>
      <p:sp>
        <p:nvSpPr>
          <p:cNvPr id="3" name="Text 4"/>
          <p:cNvSpPr txBox="1"/>
          <p:nvPr/>
        </p:nvSpPr>
        <p:spPr>
          <a:xfrm>
            <a:off x="777240" y="5532120"/>
            <a:ext cx="3108960" cy="411480"/>
          </a:xfrm>
          <a:prstGeom prst="rect">
            <a:avLst/>
          </a:prstGeom>
          <a:noFill/>
          <a:ln/>
        </p:spPr>
        <p:txBody>
          <a:bodyPr wrap="square" lIns="0" tIns="0" rIns="0" bIns="0" rtlCol="0" anchor="t"/>
          <a:lstStyle/>
          <a:p>
            <a:pPr marL="0" indent="0">
              <a:buNone/>
            </a:pPr>
            <a:r>
              <a:rPr lang="en-US" sz="1400" dirty="0">
                <a:solidFill>
                  <a:schemeClr val="tx1"/>
                </a:solidFill>
              </a:rPr>
              <a:t>Annual growth 1.73% per year</a:t>
            </a:r>
            <a:endParaRPr lang="en-US" sz="1400" dirty="0"/>
          </a:p>
        </p:txBody>
      </p:sp>
      <p:sp>
        <p:nvSpPr>
          <p:cNvPr id="9" name="insight2"/>
          <p:cNvSpPr/>
          <p:nvPr/>
        </p:nvSpPr>
        <p:spPr>
          <a:xfrm>
            <a:off x="4297680" y="4389120"/>
            <a:ext cx="3566160" cy="1691640"/>
          </a:xfrm>
          <a:prstGeom prst="roundRect">
            <a:avLst>
              <a:gd name="adj" fmla="val 432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0" name="Text 6"/>
          <p:cNvSpPr txBox="1"/>
          <p:nvPr/>
        </p:nvSpPr>
        <p:spPr>
          <a:xfrm>
            <a:off x="4526280" y="4526280"/>
            <a:ext cx="3108960" cy="365760"/>
          </a:xfrm>
          <a:prstGeom prst="rect">
            <a:avLst/>
          </a:prstGeom>
          <a:noFill/>
          <a:ln/>
        </p:spPr>
        <p:txBody>
          <a:bodyPr wrap="square" lIns="0" tIns="0" rIns="0" bIns="0" rtlCol="0" anchor="t"/>
          <a:lstStyle/>
          <a:p>
            <a:pPr marL="0" indent="0">
              <a:buNone/>
            </a:pPr>
            <a:r>
              <a:rPr lang="en-US" sz="1600" b="1" dirty="0">
                <a:solidFill>
                  <a:schemeClr val="accent2"/>
                </a:solidFill>
              </a:rPr>
              <a:t>Non-residential</a:t>
            </a:r>
            <a:endParaRPr lang="en-US" sz="1600" dirty="0"/>
          </a:p>
        </p:txBody>
      </p:sp>
      <p:sp>
        <p:nvSpPr>
          <p:cNvPr id="11" name="Text 7"/>
          <p:cNvSpPr txBox="1"/>
          <p:nvPr/>
        </p:nvSpPr>
        <p:spPr>
          <a:xfrm>
            <a:off x="4526280" y="4937760"/>
            <a:ext cx="3108960" cy="50292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+0.66 km²  (+34.4%)</a:t>
            </a:r>
            <a:endParaRPr lang="en-US" sz="2200" dirty="0"/>
          </a:p>
        </p:txBody>
      </p:sp>
      <p:sp>
        <p:nvSpPr>
          <p:cNvPr id="12" name="Text 8"/>
          <p:cNvSpPr txBox="1"/>
          <p:nvPr/>
        </p:nvSpPr>
        <p:spPr>
          <a:xfrm>
            <a:off x="4526280" y="5532120"/>
            <a:ext cx="3108960" cy="411480"/>
          </a:xfrm>
          <a:prstGeom prst="rect">
            <a:avLst/>
          </a:prstGeom>
          <a:noFill/>
          <a:ln/>
        </p:spPr>
        <p:txBody>
          <a:bodyPr wrap="square" lIns="0" tIns="0" rIns="0" bIns="0" rtlCol="0" anchor="t"/>
          <a:lstStyle/>
          <a:p>
            <a:pPr marL="0" indent="0">
              <a:buNone/>
            </a:pPr>
            <a:r>
              <a:rPr lang="en-US" sz="1400" dirty="0">
                <a:solidFill>
                  <a:schemeClr val="tx1"/>
                </a:solidFill>
              </a:rPr>
              <a:t>Annual growth 1.49% per year</a:t>
            </a:r>
            <a:endParaRPr lang="en-US" sz="1400" dirty="0"/>
          </a:p>
        </p:txBody>
      </p:sp>
      <p:sp>
        <p:nvSpPr>
          <p:cNvPr id="13" name="insight3"/>
          <p:cNvSpPr/>
          <p:nvPr/>
        </p:nvSpPr>
        <p:spPr>
          <a:xfrm>
            <a:off x="8046720" y="4389120"/>
            <a:ext cx="3566160" cy="1691640"/>
          </a:xfrm>
          <a:prstGeom prst="roundRect">
            <a:avLst>
              <a:gd name="adj" fmla="val 432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4" name="Text 10"/>
          <p:cNvSpPr txBox="1"/>
          <p:nvPr/>
        </p:nvSpPr>
        <p:spPr>
          <a:xfrm>
            <a:off x="8275320" y="4526280"/>
            <a:ext cx="3108960" cy="365760"/>
          </a:xfrm>
          <a:prstGeom prst="rect">
            <a:avLst/>
          </a:prstGeom>
          <a:noFill/>
          <a:ln/>
        </p:spPr>
        <p:txBody>
          <a:bodyPr wrap="square" lIns="0" tIns="0" rIns="0" bIns="0" rtlCol="0" anchor="t"/>
          <a:lstStyle/>
          <a:p>
            <a:pPr marL="0" indent="0">
              <a:buNone/>
            </a:pPr>
            <a:r>
              <a:rPr lang="en-US" sz="1600" b="1" dirty="0">
                <a:solidFill>
                  <a:schemeClr val="accent3"/>
                </a:solidFill>
              </a:rPr>
              <a:t>Residential / other (residual)</a:t>
            </a:r>
            <a:endParaRPr lang="en-US" sz="1600" dirty="0"/>
          </a:p>
        </p:txBody>
      </p:sp>
      <p:sp>
        <p:nvSpPr>
          <p:cNvPr id="15" name="Text 11"/>
          <p:cNvSpPr txBox="1"/>
          <p:nvPr/>
        </p:nvSpPr>
        <p:spPr>
          <a:xfrm>
            <a:off x="8275320" y="4937760"/>
            <a:ext cx="3108960" cy="50292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+22.00 km²  (+41.1%)</a:t>
            </a:r>
            <a:endParaRPr lang="en-US" sz="2200" dirty="0"/>
          </a:p>
        </p:txBody>
      </p:sp>
      <p:sp>
        <p:nvSpPr>
          <p:cNvPr id="16" name="Text 12"/>
          <p:cNvSpPr txBox="1"/>
          <p:nvPr/>
        </p:nvSpPr>
        <p:spPr>
          <a:xfrm>
            <a:off x="8275320" y="5532120"/>
            <a:ext cx="3108960" cy="411480"/>
          </a:xfrm>
          <a:prstGeom prst="rect">
            <a:avLst/>
          </a:prstGeom>
          <a:noFill/>
          <a:ln/>
        </p:spPr>
        <p:txBody>
          <a:bodyPr wrap="square" lIns="0" tIns="0" rIns="0" bIns="0" rtlCol="0" anchor="t"/>
          <a:lstStyle/>
          <a:p>
            <a:pPr marL="0" indent="0">
              <a:buNone/>
            </a:pPr>
            <a:r>
              <a:rPr lang="en-US" sz="1400" dirty="0">
                <a:solidFill>
                  <a:schemeClr val="tx1"/>
                </a:solidFill>
              </a:rPr>
              <a:t>53.50 → 75.50 km²</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Total built-up surface grew in every interval</a:t>
            </a:r>
            <a:endParaRPr lang="en-US" sz="3200" dirty="0"/>
          </a:p>
        </p:txBody>
      </p:sp>
      <p:graphicFrame>
        <p:nvGraphicFramePr>
          <p:cNvPr id="4" name="Chart 0"/>
          <p:cNvGraphicFramePr/>
          <p:nvPr/>
        </p:nvGraphicFramePr>
        <p:xfrm>
          <a:off x="548640" y="1280160"/>
          <a:ext cx="5394960"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217920" y="1280160"/>
          <a:ext cx="539496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1"/>
          <p:cNvSpPr txBox="1"/>
          <p:nvPr/>
        </p:nvSpPr>
        <p:spPr>
          <a:xfrm>
            <a:off x="548640" y="5166360"/>
            <a:ext cx="5394960" cy="1005840"/>
          </a:xfrm>
          <a:prstGeom prst="rect">
            <a:avLst/>
          </a:prstGeom>
          <a:noFill/>
          <a:ln/>
        </p:spPr>
        <p:txBody>
          <a:bodyPr wrap="square" lIns="0" tIns="0" rIns="0" bIns="0" rtlCol="0" anchor="t"/>
          <a:lstStyle/>
          <a:p>
            <a:pPr marL="0" indent="0">
              <a:buNone/>
            </a:pPr>
            <a:r>
              <a:rPr lang="en-US" sz="1500" dirty="0">
                <a:solidFill>
                  <a:schemeClr val="tx1"/>
                </a:solidFill>
              </a:rPr>
              <a:t>Every epoch is larger than the one before: +22.7 km² in 20 years, an average of 1.13 km² per year.</a:t>
            </a:r>
            <a:endParaRPr lang="en-US" sz="1500" dirty="0"/>
          </a:p>
        </p:txBody>
      </p:sp>
      <p:sp>
        <p:nvSpPr>
          <p:cNvPr id="7" name="Text 2"/>
          <p:cNvSpPr txBox="1"/>
          <p:nvPr/>
        </p:nvSpPr>
        <p:spPr>
          <a:xfrm>
            <a:off x="6217920" y="5166360"/>
            <a:ext cx="5394960" cy="1005840"/>
          </a:xfrm>
          <a:prstGeom prst="rect">
            <a:avLst/>
          </a:prstGeom>
          <a:noFill/>
          <a:ln/>
        </p:spPr>
        <p:txBody>
          <a:bodyPr wrap="square" lIns="0" tIns="0" rIns="0" bIns="0" rtlCol="0" anchor="t"/>
          <a:lstStyle/>
          <a:p>
            <a:pPr marL="0" indent="0">
              <a:buNone/>
            </a:pPr>
            <a:r>
              <a:rPr lang="en-US" sz="1500" dirty="0">
                <a:solidFill>
                  <a:schemeClr val="tx1"/>
                </a:solidFill>
              </a:rPr>
              <a:t>Largest addition 2010–15 (+6.68 km²). Slowest 2015–20 (+4.30 km², +5.8%) compared with about +10% in the three earlier intervals.</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AEEC37-98E3-43FA-E705-766BE278A92F}"/>
              </a:ext>
            </a:extLst>
          </p:cNvPr>
          <p:cNvSpPr txBox="1"/>
          <p:nvPr/>
        </p:nvSpPr>
        <p:spPr>
          <a:xfrm>
            <a:off x="487680" y="269655"/>
            <a:ext cx="11155680" cy="640080"/>
          </a:xfrm>
          <a:prstGeom prst="rect">
            <a:avLst/>
          </a:prstGeom>
          <a:noFill/>
        </p:spPr>
        <p:txBody>
          <a:bodyPr wrap="square" lIns="45720" tIns="27432" rIns="45720" bIns="27432" anchor="t">
            <a:spAutoFit/>
          </a:bodyPr>
          <a:lstStyle/>
          <a:p>
            <a:pPr algn="l">
              <a:lnSpc>
                <a:spcPct val="105000"/>
              </a:lnSpc>
              <a:spcAft>
                <a:spcPts val="600"/>
              </a:spcAft>
            </a:pPr>
            <a:r>
              <a:rPr sz="3000" b="1" i="0" dirty="0">
                <a:solidFill>
                  <a:srgbClr val="1F2933"/>
                </a:solidFill>
                <a:latin typeface="Calibri"/>
              </a:rPr>
              <a:t>Built-up surface by epoch: Lucknow city</a:t>
            </a:r>
          </a:p>
        </p:txBody>
      </p:sp>
      <p:sp>
        <p:nvSpPr>
          <p:cNvPr id="6" name="TextBox 5">
            <a:extLst>
              <a:ext uri="{FF2B5EF4-FFF2-40B4-BE49-F238E27FC236}">
                <a16:creationId xmlns:a16="http://schemas.microsoft.com/office/drawing/2014/main" id="{80CF6414-8D2C-698E-870E-5D02F6F14776}"/>
              </a:ext>
            </a:extLst>
          </p:cNvPr>
          <p:cNvSpPr txBox="1"/>
          <p:nvPr/>
        </p:nvSpPr>
        <p:spPr>
          <a:xfrm>
            <a:off x="487680" y="1138335"/>
            <a:ext cx="11155680" cy="411480"/>
          </a:xfrm>
          <a:prstGeom prst="rect">
            <a:avLst/>
          </a:prstGeom>
          <a:noFill/>
        </p:spPr>
        <p:txBody>
          <a:bodyPr wrap="square" lIns="45720" tIns="27432" rIns="45720" bIns="27432" anchor="t">
            <a:spAutoFit/>
          </a:bodyPr>
          <a:lstStyle/>
          <a:p>
            <a:pPr algn="l">
              <a:lnSpc>
                <a:spcPct val="105000"/>
              </a:lnSpc>
              <a:spcAft>
                <a:spcPts val="600"/>
              </a:spcAft>
            </a:pPr>
            <a:r>
              <a:rPr sz="1600" b="0" i="0">
                <a:solidFill>
                  <a:srgbClr val="6B7280"/>
                </a:solidFill>
                <a:latin typeface="Calibri"/>
              </a:rPr>
              <a:t>Sum of GHSL built-up surface inside the city polygon (km²)</a:t>
            </a:r>
          </a:p>
        </p:txBody>
      </p:sp>
      <p:graphicFrame>
        <p:nvGraphicFramePr>
          <p:cNvPr id="8" name="Table 7">
            <a:extLst>
              <a:ext uri="{FF2B5EF4-FFF2-40B4-BE49-F238E27FC236}">
                <a16:creationId xmlns:a16="http://schemas.microsoft.com/office/drawing/2014/main" id="{3ADCBEB8-258C-5D6F-A620-E391AD6FC0CA}"/>
              </a:ext>
            </a:extLst>
          </p:cNvPr>
          <p:cNvGraphicFramePr>
            <a:graphicFrameLocks noGrp="1"/>
          </p:cNvGraphicFramePr>
          <p:nvPr>
            <p:extLst>
              <p:ext uri="{D42A27DB-BD31-4B8C-83A1-F6EECF244321}">
                <p14:modId xmlns:p14="http://schemas.microsoft.com/office/powerpoint/2010/main" val="2429822653"/>
              </p:ext>
            </p:extLst>
          </p:nvPr>
        </p:nvGraphicFramePr>
        <p:xfrm>
          <a:off x="487680" y="1778415"/>
          <a:ext cx="11155680" cy="3566160"/>
        </p:xfrm>
        <a:graphic>
          <a:graphicData uri="http://schemas.openxmlformats.org/drawingml/2006/table">
            <a:tbl>
              <a:tblPr firstRow="1" bandRow="1">
                <a:tableStyleId>{5C22544A-7EE6-4342-B048-85BDC9FD1C3A}</a:tableStyleId>
              </a:tblPr>
              <a:tblGrid>
                <a:gridCol w="1859280">
                  <a:extLst>
                    <a:ext uri="{9D8B030D-6E8A-4147-A177-3AD203B41FA5}">
                      <a16:colId xmlns:a16="http://schemas.microsoft.com/office/drawing/2014/main" val="20000"/>
                    </a:ext>
                  </a:extLst>
                </a:gridCol>
                <a:gridCol w="1859280">
                  <a:extLst>
                    <a:ext uri="{9D8B030D-6E8A-4147-A177-3AD203B41FA5}">
                      <a16:colId xmlns:a16="http://schemas.microsoft.com/office/drawing/2014/main" val="20001"/>
                    </a:ext>
                  </a:extLst>
                </a:gridCol>
                <a:gridCol w="1859280">
                  <a:extLst>
                    <a:ext uri="{9D8B030D-6E8A-4147-A177-3AD203B41FA5}">
                      <a16:colId xmlns:a16="http://schemas.microsoft.com/office/drawing/2014/main" val="20002"/>
                    </a:ext>
                  </a:extLst>
                </a:gridCol>
                <a:gridCol w="1859280">
                  <a:extLst>
                    <a:ext uri="{9D8B030D-6E8A-4147-A177-3AD203B41FA5}">
                      <a16:colId xmlns:a16="http://schemas.microsoft.com/office/drawing/2014/main" val="20003"/>
                    </a:ext>
                  </a:extLst>
                </a:gridCol>
                <a:gridCol w="1859280">
                  <a:extLst>
                    <a:ext uri="{9D8B030D-6E8A-4147-A177-3AD203B41FA5}">
                      <a16:colId xmlns:a16="http://schemas.microsoft.com/office/drawing/2014/main" val="20004"/>
                    </a:ext>
                  </a:extLst>
                </a:gridCol>
                <a:gridCol w="1859280">
                  <a:extLst>
                    <a:ext uri="{9D8B030D-6E8A-4147-A177-3AD203B41FA5}">
                      <a16:colId xmlns:a16="http://schemas.microsoft.com/office/drawing/2014/main" val="20005"/>
                    </a:ext>
                  </a:extLst>
                </a:gridCol>
              </a:tblGrid>
              <a:tr h="594360">
                <a:tc>
                  <a:txBody>
                    <a:bodyPr/>
                    <a:lstStyle/>
                    <a:p>
                      <a:pPr algn="ctr"/>
                      <a:r>
                        <a:rPr sz="1500" b="1">
                          <a:solidFill>
                            <a:srgbClr val="FFFFFF"/>
                          </a:solidFill>
                          <a:latin typeface="Calibri"/>
                        </a:rPr>
                        <a:t>Year</a:t>
                      </a:r>
                    </a:p>
                  </a:txBody>
                  <a:tcPr>
                    <a:solidFill>
                      <a:srgbClr val="1F2933"/>
                    </a:solidFill>
                  </a:tcPr>
                </a:tc>
                <a:tc>
                  <a:txBody>
                    <a:bodyPr/>
                    <a:lstStyle/>
                    <a:p>
                      <a:pPr algn="ctr"/>
                      <a:r>
                        <a:rPr sz="1500" b="1">
                          <a:solidFill>
                            <a:srgbClr val="FFFFFF"/>
                          </a:solidFill>
                          <a:latin typeface="Calibri"/>
                        </a:rPr>
                        <a:t>Total (km²)</a:t>
                      </a:r>
                    </a:p>
                  </a:txBody>
                  <a:tcPr>
                    <a:solidFill>
                      <a:srgbClr val="1F2933"/>
                    </a:solidFill>
                  </a:tcPr>
                </a:tc>
                <a:tc>
                  <a:txBody>
                    <a:bodyPr/>
                    <a:lstStyle/>
                    <a:p>
                      <a:pPr algn="ctr"/>
                      <a:r>
                        <a:rPr sz="1500" b="1">
                          <a:solidFill>
                            <a:srgbClr val="FFFFFF"/>
                          </a:solidFill>
                          <a:latin typeface="Calibri"/>
                        </a:rPr>
                        <a:t>Non-residential (km²)</a:t>
                      </a:r>
                    </a:p>
                  </a:txBody>
                  <a:tcPr>
                    <a:solidFill>
                      <a:srgbClr val="1F2933"/>
                    </a:solidFill>
                  </a:tcPr>
                </a:tc>
                <a:tc>
                  <a:txBody>
                    <a:bodyPr/>
                    <a:lstStyle/>
                    <a:p>
                      <a:pPr algn="ctr"/>
                      <a:r>
                        <a:rPr sz="1500" b="1">
                          <a:solidFill>
                            <a:srgbClr val="FFFFFF"/>
                          </a:solidFill>
                          <a:latin typeface="Calibri"/>
                        </a:rPr>
                        <a:t>Residential (km²)</a:t>
                      </a:r>
                    </a:p>
                  </a:txBody>
                  <a:tcPr>
                    <a:solidFill>
                      <a:srgbClr val="1F2933"/>
                    </a:solidFill>
                  </a:tcPr>
                </a:tc>
                <a:tc>
                  <a:txBody>
                    <a:bodyPr/>
                    <a:lstStyle/>
                    <a:p>
                      <a:pPr algn="ctr"/>
                      <a:r>
                        <a:rPr sz="1500" b="1">
                          <a:solidFill>
                            <a:srgbClr val="FFFFFF"/>
                          </a:solidFill>
                          <a:latin typeface="Calibri"/>
                        </a:rPr>
                        <a:t>Non-res. share (%)</a:t>
                      </a:r>
                    </a:p>
                  </a:txBody>
                  <a:tcPr>
                    <a:solidFill>
                      <a:srgbClr val="1F2933"/>
                    </a:solidFill>
                  </a:tcPr>
                </a:tc>
                <a:tc>
                  <a:txBody>
                    <a:bodyPr/>
                    <a:lstStyle/>
                    <a:p>
                      <a:pPr algn="ctr"/>
                      <a:r>
                        <a:rPr sz="1500" b="1">
                          <a:solidFill>
                            <a:srgbClr val="FFFFFF"/>
                          </a:solidFill>
                          <a:latin typeface="Calibri"/>
                        </a:rPr>
                        <a:t>Built-up / city area (%)</a:t>
                      </a:r>
                    </a:p>
                  </a:txBody>
                  <a:tcPr>
                    <a:solidFill>
                      <a:srgbClr val="1F2933"/>
                    </a:solidFill>
                  </a:tcPr>
                </a:tc>
                <a:extLst>
                  <a:ext uri="{0D108BD9-81ED-4DB2-BD59-A6C34878D82A}">
                    <a16:rowId xmlns:a16="http://schemas.microsoft.com/office/drawing/2014/main" val="10000"/>
                  </a:ext>
                </a:extLst>
              </a:tr>
              <a:tr h="594360">
                <a:tc>
                  <a:txBody>
                    <a:bodyPr/>
                    <a:lstStyle/>
                    <a:p>
                      <a:pPr algn="ctr"/>
                      <a:r>
                        <a:rPr sz="1600" b="1">
                          <a:solidFill>
                            <a:srgbClr val="1F2933"/>
                          </a:solidFill>
                          <a:latin typeface="Calibri"/>
                        </a:rPr>
                        <a:t>2000</a:t>
                      </a:r>
                    </a:p>
                  </a:txBody>
                  <a:tcPr>
                    <a:solidFill>
                      <a:srgbClr val="F3F4F6"/>
                    </a:solidFill>
                  </a:tcPr>
                </a:tc>
                <a:tc>
                  <a:txBody>
                    <a:bodyPr/>
                    <a:lstStyle/>
                    <a:p>
                      <a:pPr algn="ctr"/>
                      <a:r>
                        <a:rPr sz="1600" b="0">
                          <a:solidFill>
                            <a:srgbClr val="1F2933"/>
                          </a:solidFill>
                          <a:latin typeface="Calibri"/>
                        </a:rPr>
                        <a:t>55.42</a:t>
                      </a:r>
                    </a:p>
                  </a:txBody>
                  <a:tcPr>
                    <a:solidFill>
                      <a:srgbClr val="F3F4F6"/>
                    </a:solidFill>
                  </a:tcPr>
                </a:tc>
                <a:tc>
                  <a:txBody>
                    <a:bodyPr/>
                    <a:lstStyle/>
                    <a:p>
                      <a:pPr algn="ctr"/>
                      <a:r>
                        <a:rPr sz="1600" b="0">
                          <a:solidFill>
                            <a:srgbClr val="1F2933"/>
                          </a:solidFill>
                          <a:latin typeface="Calibri"/>
                        </a:rPr>
                        <a:t>1.92</a:t>
                      </a:r>
                    </a:p>
                  </a:txBody>
                  <a:tcPr>
                    <a:solidFill>
                      <a:srgbClr val="F3F4F6"/>
                    </a:solidFill>
                  </a:tcPr>
                </a:tc>
                <a:tc>
                  <a:txBody>
                    <a:bodyPr/>
                    <a:lstStyle/>
                    <a:p>
                      <a:pPr algn="ctr"/>
                      <a:r>
                        <a:rPr sz="1600" b="0">
                          <a:solidFill>
                            <a:srgbClr val="1F2933"/>
                          </a:solidFill>
                          <a:latin typeface="Calibri"/>
                        </a:rPr>
                        <a:t>53.50</a:t>
                      </a:r>
                    </a:p>
                  </a:txBody>
                  <a:tcPr>
                    <a:solidFill>
                      <a:srgbClr val="F3F4F6"/>
                    </a:solidFill>
                  </a:tcPr>
                </a:tc>
                <a:tc>
                  <a:txBody>
                    <a:bodyPr/>
                    <a:lstStyle/>
                    <a:p>
                      <a:pPr algn="ctr"/>
                      <a:r>
                        <a:rPr sz="1600" b="0">
                          <a:solidFill>
                            <a:srgbClr val="1F2933"/>
                          </a:solidFill>
                          <a:latin typeface="Calibri"/>
                        </a:rPr>
                        <a:t>3.46</a:t>
                      </a:r>
                    </a:p>
                  </a:txBody>
                  <a:tcPr>
                    <a:solidFill>
                      <a:srgbClr val="F3F4F6"/>
                    </a:solidFill>
                  </a:tcPr>
                </a:tc>
                <a:tc>
                  <a:txBody>
                    <a:bodyPr/>
                    <a:lstStyle/>
                    <a:p>
                      <a:pPr algn="ctr"/>
                      <a:r>
                        <a:rPr sz="1600" b="0">
                          <a:solidFill>
                            <a:srgbClr val="1F2933"/>
                          </a:solidFill>
                          <a:latin typeface="Calibri"/>
                        </a:rPr>
                        <a:t>20.0</a:t>
                      </a:r>
                    </a:p>
                  </a:txBody>
                  <a:tcPr>
                    <a:solidFill>
                      <a:srgbClr val="F3F4F6"/>
                    </a:solidFill>
                  </a:tcPr>
                </a:tc>
                <a:extLst>
                  <a:ext uri="{0D108BD9-81ED-4DB2-BD59-A6C34878D82A}">
                    <a16:rowId xmlns:a16="http://schemas.microsoft.com/office/drawing/2014/main" val="10001"/>
                  </a:ext>
                </a:extLst>
              </a:tr>
              <a:tr h="594360">
                <a:tc>
                  <a:txBody>
                    <a:bodyPr/>
                    <a:lstStyle/>
                    <a:p>
                      <a:pPr algn="ctr"/>
                      <a:r>
                        <a:rPr sz="1600" b="1">
                          <a:solidFill>
                            <a:srgbClr val="1F2933"/>
                          </a:solidFill>
                          <a:latin typeface="Calibri"/>
                        </a:rPr>
                        <a:t>2005</a:t>
                      </a:r>
                    </a:p>
                  </a:txBody>
                  <a:tcPr>
                    <a:solidFill>
                      <a:srgbClr val="FFFFFF"/>
                    </a:solidFill>
                  </a:tcPr>
                </a:tc>
                <a:tc>
                  <a:txBody>
                    <a:bodyPr/>
                    <a:lstStyle/>
                    <a:p>
                      <a:pPr algn="ctr"/>
                      <a:r>
                        <a:rPr sz="1600" b="0">
                          <a:solidFill>
                            <a:srgbClr val="1F2933"/>
                          </a:solidFill>
                          <a:latin typeface="Calibri"/>
                        </a:rPr>
                        <a:t>60.58</a:t>
                      </a:r>
                    </a:p>
                  </a:txBody>
                  <a:tcPr>
                    <a:solidFill>
                      <a:srgbClr val="FFFFFF"/>
                    </a:solidFill>
                  </a:tcPr>
                </a:tc>
                <a:tc>
                  <a:txBody>
                    <a:bodyPr/>
                    <a:lstStyle/>
                    <a:p>
                      <a:pPr algn="ctr"/>
                      <a:r>
                        <a:rPr sz="1600" b="0">
                          <a:solidFill>
                            <a:srgbClr val="1F2933"/>
                          </a:solidFill>
                          <a:latin typeface="Calibri"/>
                        </a:rPr>
                        <a:t>2.08</a:t>
                      </a:r>
                    </a:p>
                  </a:txBody>
                  <a:tcPr>
                    <a:solidFill>
                      <a:srgbClr val="FFFFFF"/>
                    </a:solidFill>
                  </a:tcPr>
                </a:tc>
                <a:tc>
                  <a:txBody>
                    <a:bodyPr/>
                    <a:lstStyle/>
                    <a:p>
                      <a:pPr algn="ctr"/>
                      <a:r>
                        <a:rPr sz="1600" b="0">
                          <a:solidFill>
                            <a:srgbClr val="1F2933"/>
                          </a:solidFill>
                          <a:latin typeface="Calibri"/>
                        </a:rPr>
                        <a:t>58.50</a:t>
                      </a:r>
                    </a:p>
                  </a:txBody>
                  <a:tcPr>
                    <a:solidFill>
                      <a:srgbClr val="FFFFFF"/>
                    </a:solidFill>
                  </a:tcPr>
                </a:tc>
                <a:tc>
                  <a:txBody>
                    <a:bodyPr/>
                    <a:lstStyle/>
                    <a:p>
                      <a:pPr algn="ctr"/>
                      <a:r>
                        <a:rPr sz="1600" b="0">
                          <a:solidFill>
                            <a:srgbClr val="1F2933"/>
                          </a:solidFill>
                          <a:latin typeface="Calibri"/>
                        </a:rPr>
                        <a:t>3.43</a:t>
                      </a:r>
                    </a:p>
                  </a:txBody>
                  <a:tcPr>
                    <a:solidFill>
                      <a:srgbClr val="FFFFFF"/>
                    </a:solidFill>
                  </a:tcPr>
                </a:tc>
                <a:tc>
                  <a:txBody>
                    <a:bodyPr/>
                    <a:lstStyle/>
                    <a:p>
                      <a:pPr algn="ctr"/>
                      <a:r>
                        <a:rPr sz="1600" b="0">
                          <a:solidFill>
                            <a:srgbClr val="1F2933"/>
                          </a:solidFill>
                          <a:latin typeface="Calibri"/>
                        </a:rPr>
                        <a:t>21.8</a:t>
                      </a:r>
                    </a:p>
                  </a:txBody>
                  <a:tcPr>
                    <a:solidFill>
                      <a:srgbClr val="FFFFFF"/>
                    </a:solidFill>
                  </a:tcPr>
                </a:tc>
                <a:extLst>
                  <a:ext uri="{0D108BD9-81ED-4DB2-BD59-A6C34878D82A}">
                    <a16:rowId xmlns:a16="http://schemas.microsoft.com/office/drawing/2014/main" val="10002"/>
                  </a:ext>
                </a:extLst>
              </a:tr>
              <a:tr h="594360">
                <a:tc>
                  <a:txBody>
                    <a:bodyPr/>
                    <a:lstStyle/>
                    <a:p>
                      <a:pPr algn="ctr"/>
                      <a:r>
                        <a:rPr sz="1600" b="1">
                          <a:solidFill>
                            <a:srgbClr val="1F2933"/>
                          </a:solidFill>
                          <a:latin typeface="Calibri"/>
                        </a:rPr>
                        <a:t>2010</a:t>
                      </a:r>
                    </a:p>
                  </a:txBody>
                  <a:tcPr>
                    <a:solidFill>
                      <a:srgbClr val="F3F4F6"/>
                    </a:solidFill>
                  </a:tcPr>
                </a:tc>
                <a:tc>
                  <a:txBody>
                    <a:bodyPr/>
                    <a:lstStyle/>
                    <a:p>
                      <a:pPr algn="ctr"/>
                      <a:r>
                        <a:rPr sz="1600" b="0">
                          <a:solidFill>
                            <a:srgbClr val="1F2933"/>
                          </a:solidFill>
                          <a:latin typeface="Calibri"/>
                        </a:rPr>
                        <a:t>67.10</a:t>
                      </a:r>
                    </a:p>
                  </a:txBody>
                  <a:tcPr>
                    <a:solidFill>
                      <a:srgbClr val="F3F4F6"/>
                    </a:solidFill>
                  </a:tcPr>
                </a:tc>
                <a:tc>
                  <a:txBody>
                    <a:bodyPr/>
                    <a:lstStyle/>
                    <a:p>
                      <a:pPr algn="ctr"/>
                      <a:r>
                        <a:rPr sz="1600" b="0">
                          <a:solidFill>
                            <a:srgbClr val="1F2933"/>
                          </a:solidFill>
                          <a:latin typeface="Calibri"/>
                        </a:rPr>
                        <a:t>2.27</a:t>
                      </a:r>
                    </a:p>
                  </a:txBody>
                  <a:tcPr>
                    <a:solidFill>
                      <a:srgbClr val="F3F4F6"/>
                    </a:solidFill>
                  </a:tcPr>
                </a:tc>
                <a:tc>
                  <a:txBody>
                    <a:bodyPr/>
                    <a:lstStyle/>
                    <a:p>
                      <a:pPr algn="ctr"/>
                      <a:r>
                        <a:rPr sz="1600" b="0">
                          <a:solidFill>
                            <a:srgbClr val="1F2933"/>
                          </a:solidFill>
                          <a:latin typeface="Calibri"/>
                        </a:rPr>
                        <a:t>64.83</a:t>
                      </a:r>
                    </a:p>
                  </a:txBody>
                  <a:tcPr>
                    <a:solidFill>
                      <a:srgbClr val="F3F4F6"/>
                    </a:solidFill>
                  </a:tcPr>
                </a:tc>
                <a:tc>
                  <a:txBody>
                    <a:bodyPr/>
                    <a:lstStyle/>
                    <a:p>
                      <a:pPr algn="ctr"/>
                      <a:r>
                        <a:rPr sz="1600" b="0">
                          <a:solidFill>
                            <a:srgbClr val="1F2933"/>
                          </a:solidFill>
                          <a:latin typeface="Calibri"/>
                        </a:rPr>
                        <a:t>3.38</a:t>
                      </a:r>
                    </a:p>
                  </a:txBody>
                  <a:tcPr>
                    <a:solidFill>
                      <a:srgbClr val="F3F4F6"/>
                    </a:solidFill>
                  </a:tcPr>
                </a:tc>
                <a:tc>
                  <a:txBody>
                    <a:bodyPr/>
                    <a:lstStyle/>
                    <a:p>
                      <a:pPr algn="ctr"/>
                      <a:r>
                        <a:rPr sz="1600" b="0">
                          <a:solidFill>
                            <a:srgbClr val="1F2933"/>
                          </a:solidFill>
                          <a:latin typeface="Calibri"/>
                        </a:rPr>
                        <a:t>24.2</a:t>
                      </a:r>
                    </a:p>
                  </a:txBody>
                  <a:tcPr>
                    <a:solidFill>
                      <a:srgbClr val="F3F4F6"/>
                    </a:solidFill>
                  </a:tcPr>
                </a:tc>
                <a:extLst>
                  <a:ext uri="{0D108BD9-81ED-4DB2-BD59-A6C34878D82A}">
                    <a16:rowId xmlns:a16="http://schemas.microsoft.com/office/drawing/2014/main" val="10003"/>
                  </a:ext>
                </a:extLst>
              </a:tr>
              <a:tr h="594360">
                <a:tc>
                  <a:txBody>
                    <a:bodyPr/>
                    <a:lstStyle/>
                    <a:p>
                      <a:pPr algn="ctr"/>
                      <a:r>
                        <a:rPr sz="1600" b="1">
                          <a:solidFill>
                            <a:srgbClr val="1F2933"/>
                          </a:solidFill>
                          <a:latin typeface="Calibri"/>
                        </a:rPr>
                        <a:t>2015</a:t>
                      </a:r>
                    </a:p>
                  </a:txBody>
                  <a:tcPr>
                    <a:solidFill>
                      <a:srgbClr val="FFFFFF"/>
                    </a:solidFill>
                  </a:tcPr>
                </a:tc>
                <a:tc>
                  <a:txBody>
                    <a:bodyPr/>
                    <a:lstStyle/>
                    <a:p>
                      <a:pPr algn="ctr"/>
                      <a:r>
                        <a:rPr sz="1600" b="0" dirty="0">
                          <a:solidFill>
                            <a:srgbClr val="1F2933"/>
                          </a:solidFill>
                          <a:latin typeface="Calibri"/>
                        </a:rPr>
                        <a:t>73.78</a:t>
                      </a:r>
                    </a:p>
                  </a:txBody>
                  <a:tcPr>
                    <a:solidFill>
                      <a:srgbClr val="FFFFFF"/>
                    </a:solidFill>
                  </a:tcPr>
                </a:tc>
                <a:tc>
                  <a:txBody>
                    <a:bodyPr/>
                    <a:lstStyle/>
                    <a:p>
                      <a:pPr algn="ctr"/>
                      <a:r>
                        <a:rPr sz="1600" b="0">
                          <a:solidFill>
                            <a:srgbClr val="1F2933"/>
                          </a:solidFill>
                          <a:latin typeface="Calibri"/>
                        </a:rPr>
                        <a:t>2.47</a:t>
                      </a:r>
                    </a:p>
                  </a:txBody>
                  <a:tcPr>
                    <a:solidFill>
                      <a:srgbClr val="FFFFFF"/>
                    </a:solidFill>
                  </a:tcPr>
                </a:tc>
                <a:tc>
                  <a:txBody>
                    <a:bodyPr/>
                    <a:lstStyle/>
                    <a:p>
                      <a:pPr algn="ctr"/>
                      <a:r>
                        <a:rPr sz="1600" b="0">
                          <a:solidFill>
                            <a:srgbClr val="1F2933"/>
                          </a:solidFill>
                          <a:latin typeface="Calibri"/>
                        </a:rPr>
                        <a:t>71.31</a:t>
                      </a:r>
                    </a:p>
                  </a:txBody>
                  <a:tcPr>
                    <a:solidFill>
                      <a:srgbClr val="FFFFFF"/>
                    </a:solidFill>
                  </a:tcPr>
                </a:tc>
                <a:tc>
                  <a:txBody>
                    <a:bodyPr/>
                    <a:lstStyle/>
                    <a:p>
                      <a:pPr algn="ctr"/>
                      <a:r>
                        <a:rPr sz="1600" b="0">
                          <a:solidFill>
                            <a:srgbClr val="1F2933"/>
                          </a:solidFill>
                          <a:latin typeface="Calibri"/>
                        </a:rPr>
                        <a:t>3.35</a:t>
                      </a:r>
                    </a:p>
                  </a:txBody>
                  <a:tcPr>
                    <a:solidFill>
                      <a:srgbClr val="FFFFFF"/>
                    </a:solidFill>
                  </a:tcPr>
                </a:tc>
                <a:tc>
                  <a:txBody>
                    <a:bodyPr/>
                    <a:lstStyle/>
                    <a:p>
                      <a:pPr algn="ctr"/>
                      <a:r>
                        <a:rPr sz="1600" b="0">
                          <a:solidFill>
                            <a:srgbClr val="1F2933"/>
                          </a:solidFill>
                          <a:latin typeface="Calibri"/>
                        </a:rPr>
                        <a:t>26.6</a:t>
                      </a:r>
                    </a:p>
                  </a:txBody>
                  <a:tcPr>
                    <a:solidFill>
                      <a:srgbClr val="FFFFFF"/>
                    </a:solidFill>
                  </a:tcPr>
                </a:tc>
                <a:extLst>
                  <a:ext uri="{0D108BD9-81ED-4DB2-BD59-A6C34878D82A}">
                    <a16:rowId xmlns:a16="http://schemas.microsoft.com/office/drawing/2014/main" val="10004"/>
                  </a:ext>
                </a:extLst>
              </a:tr>
              <a:tr h="594360">
                <a:tc>
                  <a:txBody>
                    <a:bodyPr/>
                    <a:lstStyle/>
                    <a:p>
                      <a:pPr algn="ctr"/>
                      <a:r>
                        <a:rPr sz="1600" b="1">
                          <a:solidFill>
                            <a:srgbClr val="1F2933"/>
                          </a:solidFill>
                          <a:latin typeface="Calibri"/>
                        </a:rPr>
                        <a:t>2020</a:t>
                      </a:r>
                    </a:p>
                  </a:txBody>
                  <a:tcPr>
                    <a:solidFill>
                      <a:srgbClr val="F3F4F6"/>
                    </a:solidFill>
                  </a:tcPr>
                </a:tc>
                <a:tc>
                  <a:txBody>
                    <a:bodyPr/>
                    <a:lstStyle/>
                    <a:p>
                      <a:pPr algn="ctr"/>
                      <a:r>
                        <a:rPr sz="1600" b="0">
                          <a:solidFill>
                            <a:srgbClr val="1F2933"/>
                          </a:solidFill>
                          <a:latin typeface="Calibri"/>
                        </a:rPr>
                        <a:t>78.08</a:t>
                      </a:r>
                    </a:p>
                  </a:txBody>
                  <a:tcPr>
                    <a:solidFill>
                      <a:srgbClr val="F3F4F6"/>
                    </a:solidFill>
                  </a:tcPr>
                </a:tc>
                <a:tc>
                  <a:txBody>
                    <a:bodyPr/>
                    <a:lstStyle/>
                    <a:p>
                      <a:pPr algn="ctr"/>
                      <a:r>
                        <a:rPr sz="1600" b="0">
                          <a:solidFill>
                            <a:srgbClr val="1F2933"/>
                          </a:solidFill>
                          <a:latin typeface="Calibri"/>
                        </a:rPr>
                        <a:t>2.58</a:t>
                      </a:r>
                    </a:p>
                  </a:txBody>
                  <a:tcPr>
                    <a:solidFill>
                      <a:srgbClr val="F3F4F6"/>
                    </a:solidFill>
                  </a:tcPr>
                </a:tc>
                <a:tc>
                  <a:txBody>
                    <a:bodyPr/>
                    <a:lstStyle/>
                    <a:p>
                      <a:pPr algn="ctr"/>
                      <a:r>
                        <a:rPr sz="1600" b="0">
                          <a:solidFill>
                            <a:srgbClr val="1F2933"/>
                          </a:solidFill>
                          <a:latin typeface="Calibri"/>
                        </a:rPr>
                        <a:t>75.50</a:t>
                      </a:r>
                    </a:p>
                  </a:txBody>
                  <a:tcPr>
                    <a:solidFill>
                      <a:srgbClr val="F3F4F6"/>
                    </a:solidFill>
                  </a:tcPr>
                </a:tc>
                <a:tc>
                  <a:txBody>
                    <a:bodyPr/>
                    <a:lstStyle/>
                    <a:p>
                      <a:pPr algn="ctr"/>
                      <a:r>
                        <a:rPr sz="1600" b="0">
                          <a:solidFill>
                            <a:srgbClr val="1F2933"/>
                          </a:solidFill>
                          <a:latin typeface="Calibri"/>
                        </a:rPr>
                        <a:t>3.30</a:t>
                      </a:r>
                    </a:p>
                  </a:txBody>
                  <a:tcPr>
                    <a:solidFill>
                      <a:srgbClr val="F3F4F6"/>
                    </a:solidFill>
                  </a:tcPr>
                </a:tc>
                <a:tc>
                  <a:txBody>
                    <a:bodyPr/>
                    <a:lstStyle/>
                    <a:p>
                      <a:pPr algn="ctr"/>
                      <a:r>
                        <a:rPr sz="1600" b="0" dirty="0">
                          <a:solidFill>
                            <a:srgbClr val="1F2933"/>
                          </a:solidFill>
                          <a:latin typeface="Calibri"/>
                        </a:rPr>
                        <a:t>28.2</a:t>
                      </a:r>
                    </a:p>
                  </a:txBody>
                  <a:tcPr>
                    <a:solidFill>
                      <a:srgbClr val="F3F4F6"/>
                    </a:solidFill>
                  </a:tcPr>
                </a:tc>
                <a:extLst>
                  <a:ext uri="{0D108BD9-81ED-4DB2-BD59-A6C34878D82A}">
                    <a16:rowId xmlns:a16="http://schemas.microsoft.com/office/drawing/2014/main" val="10005"/>
                  </a:ext>
                </a:extLst>
              </a:tr>
            </a:tbl>
          </a:graphicData>
        </a:graphic>
      </p:graphicFrame>
      <p:sp>
        <p:nvSpPr>
          <p:cNvPr id="10" name="TextBox 9">
            <a:extLst>
              <a:ext uri="{FF2B5EF4-FFF2-40B4-BE49-F238E27FC236}">
                <a16:creationId xmlns:a16="http://schemas.microsoft.com/office/drawing/2014/main" id="{4F9A40EC-CF5D-1ED7-0D83-3C688433186C}"/>
              </a:ext>
            </a:extLst>
          </p:cNvPr>
          <p:cNvSpPr txBox="1"/>
          <p:nvPr/>
        </p:nvSpPr>
        <p:spPr>
          <a:xfrm>
            <a:off x="487680" y="5436015"/>
            <a:ext cx="11155680" cy="731520"/>
          </a:xfrm>
          <a:prstGeom prst="rect">
            <a:avLst/>
          </a:prstGeom>
          <a:noFill/>
        </p:spPr>
        <p:txBody>
          <a:bodyPr wrap="square" lIns="45720" tIns="27432" rIns="45720" bIns="27432" anchor="t">
            <a:spAutoFit/>
          </a:bodyPr>
          <a:lstStyle/>
          <a:p>
            <a:pPr algn="l">
              <a:lnSpc>
                <a:spcPct val="105000"/>
              </a:lnSpc>
              <a:spcAft>
                <a:spcPts val="600"/>
              </a:spcAft>
            </a:pPr>
            <a:r>
              <a:rPr sz="1300" b="0" i="0">
                <a:solidFill>
                  <a:srgbClr val="6B7280"/>
                </a:solidFill>
                <a:latin typeface="Calibri"/>
              </a:rPr>
              <a:t>Residential is a residual (total − non-residential). GHSL values are modelled estimates on a 100 m grid.</a:t>
            </a:r>
          </a:p>
        </p:txBody>
      </p:sp>
    </p:spTree>
    <p:extLst>
      <p:ext uri="{BB962C8B-B14F-4D97-AF65-F5344CB8AC3E}">
        <p14:creationId xmlns:p14="http://schemas.microsoft.com/office/powerpoint/2010/main" val="3088865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Non-residential built-up surface is small and stable</a:t>
            </a:r>
            <a:endParaRPr lang="en-US" sz="3200" dirty="0"/>
          </a:p>
        </p:txBody>
      </p:sp>
      <p:sp>
        <p:nvSpPr>
          <p:cNvPr id="4" name="nresStat1"/>
          <p:cNvSpPr/>
          <p:nvPr/>
        </p:nvSpPr>
        <p:spPr>
          <a:xfrm>
            <a:off x="548640" y="1325880"/>
            <a:ext cx="3840480" cy="1417320"/>
          </a:xfrm>
          <a:prstGeom prst="roundRect">
            <a:avLst>
              <a:gd name="adj" fmla="val 516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5" name="Text 2"/>
          <p:cNvSpPr txBox="1"/>
          <p:nvPr/>
        </p:nvSpPr>
        <p:spPr>
          <a:xfrm>
            <a:off x="777240" y="1508760"/>
            <a:ext cx="3383280" cy="594360"/>
          </a:xfrm>
          <a:prstGeom prst="rect">
            <a:avLst/>
          </a:prstGeom>
          <a:noFill/>
          <a:ln/>
        </p:spPr>
        <p:txBody>
          <a:bodyPr wrap="square" lIns="0" tIns="0" rIns="0" bIns="0" rtlCol="0" anchor="t"/>
          <a:lstStyle/>
          <a:p>
            <a:pPr marL="0" indent="0">
              <a:buNone/>
            </a:pPr>
            <a:r>
              <a:rPr lang="en-US" sz="2600" b="1" dirty="0">
                <a:solidFill>
                  <a:schemeClr val="accent2"/>
                </a:solidFill>
                <a:latin typeface="Cambria" pitchFamily="34" charset="0"/>
                <a:ea typeface="Cambria" pitchFamily="34" charset="-122"/>
                <a:cs typeface="Cambria" pitchFamily="34" charset="-120"/>
              </a:rPr>
              <a:t>1.92 → 2.58 km²</a:t>
            </a:r>
            <a:endParaRPr lang="en-US" sz="2600" dirty="0"/>
          </a:p>
        </p:txBody>
      </p:sp>
      <p:sp>
        <p:nvSpPr>
          <p:cNvPr id="6" name="Text 3"/>
          <p:cNvSpPr txBox="1"/>
          <p:nvPr/>
        </p:nvSpPr>
        <p:spPr>
          <a:xfrm>
            <a:off x="777240" y="2148840"/>
            <a:ext cx="3383280" cy="502920"/>
          </a:xfrm>
          <a:prstGeom prst="rect">
            <a:avLst/>
          </a:prstGeom>
          <a:noFill/>
          <a:ln/>
        </p:spPr>
        <p:txBody>
          <a:bodyPr wrap="square" lIns="0" tIns="0" rIns="0" bIns="0" rtlCol="0" anchor="t"/>
          <a:lstStyle/>
          <a:p>
            <a:pPr marL="0" indent="0">
              <a:buNone/>
            </a:pPr>
            <a:r>
              <a:rPr lang="en-US" sz="1400" dirty="0">
                <a:solidFill>
                  <a:schemeClr val="tx1"/>
                </a:solidFill>
              </a:rPr>
              <a:t>Non-residential surface (+34.4%)</a:t>
            </a:r>
            <a:endParaRPr lang="en-US" sz="1400" dirty="0"/>
          </a:p>
        </p:txBody>
      </p:sp>
      <p:sp>
        <p:nvSpPr>
          <p:cNvPr id="7" name="nresStat2"/>
          <p:cNvSpPr/>
          <p:nvPr/>
        </p:nvSpPr>
        <p:spPr>
          <a:xfrm>
            <a:off x="548640" y="2926080"/>
            <a:ext cx="3840480" cy="1417320"/>
          </a:xfrm>
          <a:prstGeom prst="roundRect">
            <a:avLst>
              <a:gd name="adj" fmla="val 516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8" name="Text 5"/>
          <p:cNvSpPr txBox="1"/>
          <p:nvPr/>
        </p:nvSpPr>
        <p:spPr>
          <a:xfrm>
            <a:off x="777240" y="3108960"/>
            <a:ext cx="3383280" cy="594360"/>
          </a:xfrm>
          <a:prstGeom prst="rect">
            <a:avLst/>
          </a:prstGeom>
          <a:noFill/>
          <a:ln/>
        </p:spPr>
        <p:txBody>
          <a:bodyPr wrap="square" lIns="0" tIns="0" rIns="0" bIns="0" rtlCol="0" anchor="t"/>
          <a:lstStyle/>
          <a:p>
            <a:pPr marL="0" indent="0">
              <a:buNone/>
            </a:pPr>
            <a:r>
              <a:rPr lang="en-US" sz="2600" b="1" dirty="0">
                <a:solidFill>
                  <a:schemeClr val="accent2"/>
                </a:solidFill>
                <a:latin typeface="Cambria" pitchFamily="34" charset="0"/>
                <a:ea typeface="Cambria" pitchFamily="34" charset="-122"/>
                <a:cs typeface="Cambria" pitchFamily="34" charset="-120"/>
              </a:rPr>
              <a:t>3.46 → 3.30%</a:t>
            </a:r>
            <a:endParaRPr lang="en-US" sz="2600" dirty="0"/>
          </a:p>
        </p:txBody>
      </p:sp>
      <p:sp>
        <p:nvSpPr>
          <p:cNvPr id="9" name="Text 6"/>
          <p:cNvSpPr txBox="1"/>
          <p:nvPr/>
        </p:nvSpPr>
        <p:spPr>
          <a:xfrm>
            <a:off x="777240" y="3749040"/>
            <a:ext cx="3383280" cy="502920"/>
          </a:xfrm>
          <a:prstGeom prst="rect">
            <a:avLst/>
          </a:prstGeom>
          <a:noFill/>
          <a:ln/>
        </p:spPr>
        <p:txBody>
          <a:bodyPr wrap="square" lIns="0" tIns="0" rIns="0" bIns="0" rtlCol="0" anchor="t"/>
          <a:lstStyle/>
          <a:p>
            <a:pPr marL="0" indent="0">
              <a:buNone/>
            </a:pPr>
            <a:r>
              <a:rPr lang="en-US" sz="1400" dirty="0">
                <a:solidFill>
                  <a:schemeClr val="tx1"/>
                </a:solidFill>
              </a:rPr>
              <a:t>Share of built-up (−0.16 points)</a:t>
            </a:r>
            <a:endParaRPr lang="en-US" sz="1400" dirty="0"/>
          </a:p>
        </p:txBody>
      </p:sp>
      <p:sp>
        <p:nvSpPr>
          <p:cNvPr id="10" name="nresStat3"/>
          <p:cNvSpPr/>
          <p:nvPr/>
        </p:nvSpPr>
        <p:spPr>
          <a:xfrm>
            <a:off x="548640" y="4526280"/>
            <a:ext cx="3840480" cy="1417320"/>
          </a:xfrm>
          <a:prstGeom prst="roundRect">
            <a:avLst>
              <a:gd name="adj" fmla="val 516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1" name="Text 8"/>
          <p:cNvSpPr txBox="1"/>
          <p:nvPr/>
        </p:nvSpPr>
        <p:spPr>
          <a:xfrm>
            <a:off x="777240" y="4709160"/>
            <a:ext cx="3383280" cy="594360"/>
          </a:xfrm>
          <a:prstGeom prst="rect">
            <a:avLst/>
          </a:prstGeom>
          <a:noFill/>
          <a:ln/>
        </p:spPr>
        <p:txBody>
          <a:bodyPr wrap="square" lIns="0" tIns="0" rIns="0" bIns="0" rtlCol="0" anchor="t"/>
          <a:lstStyle/>
          <a:p>
            <a:pPr marL="0" indent="0">
              <a:buNone/>
            </a:pPr>
            <a:r>
              <a:rPr lang="en-US" sz="2600" b="1" dirty="0">
                <a:solidFill>
                  <a:schemeClr val="accent2"/>
                </a:solidFill>
                <a:latin typeface="Cambria" pitchFamily="34" charset="0"/>
                <a:ea typeface="Cambria" pitchFamily="34" charset="-122"/>
                <a:cs typeface="Cambria" pitchFamily="34" charset="-120"/>
              </a:rPr>
              <a:t>2.9%</a:t>
            </a:r>
            <a:endParaRPr lang="en-US" sz="2600" dirty="0"/>
          </a:p>
        </p:txBody>
      </p:sp>
      <p:sp>
        <p:nvSpPr>
          <p:cNvPr id="12" name="Text 9"/>
          <p:cNvSpPr txBox="1"/>
          <p:nvPr/>
        </p:nvSpPr>
        <p:spPr>
          <a:xfrm>
            <a:off x="777240" y="5349240"/>
            <a:ext cx="3383280" cy="502920"/>
          </a:xfrm>
          <a:prstGeom prst="rect">
            <a:avLst/>
          </a:prstGeom>
          <a:noFill/>
          <a:ln/>
        </p:spPr>
        <p:txBody>
          <a:bodyPr wrap="square" lIns="0" tIns="0" rIns="0" bIns="0" rtlCol="0" anchor="t"/>
          <a:lstStyle/>
          <a:p>
            <a:pPr marL="0" indent="0">
              <a:buNone/>
            </a:pPr>
            <a:r>
              <a:rPr lang="en-US" sz="1400" dirty="0">
                <a:solidFill>
                  <a:schemeClr val="tx1"/>
                </a:solidFill>
              </a:rPr>
              <a:t>Share of all new built-up surface</a:t>
            </a:r>
            <a:endParaRPr lang="en-US" sz="1400" dirty="0"/>
          </a:p>
        </p:txBody>
      </p:sp>
      <p:graphicFrame>
        <p:nvGraphicFramePr>
          <p:cNvPr id="13" name="Chart 0"/>
          <p:cNvGraphicFramePr/>
          <p:nvPr/>
        </p:nvGraphicFramePr>
        <p:xfrm>
          <a:off x="4754880" y="1280160"/>
          <a:ext cx="68580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0"/>
          <p:cNvSpPr txBox="1"/>
          <p:nvPr/>
        </p:nvSpPr>
        <p:spPr>
          <a:xfrm>
            <a:off x="4754880" y="5394960"/>
            <a:ext cx="6858000" cy="731520"/>
          </a:xfrm>
          <a:prstGeom prst="rect">
            <a:avLst/>
          </a:prstGeom>
          <a:noFill/>
          <a:ln/>
        </p:spPr>
        <p:txBody>
          <a:bodyPr wrap="square" lIns="0" tIns="0" rIns="0" bIns="0" rtlCol="0" anchor="t"/>
          <a:lstStyle/>
          <a:p>
            <a:pPr marL="0" indent="0">
              <a:buNone/>
            </a:pPr>
            <a:r>
              <a:rPr lang="en-US" sz="1500" dirty="0">
                <a:solidFill>
                  <a:schemeClr val="tx1"/>
                </a:solidFill>
              </a:rPr>
              <a:t>The share barely moves: new built-up surface is almost entirely residential or other use.</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EE8C46-DA5B-F079-7D02-3E9CCD219631}"/>
              </a:ext>
            </a:extLst>
          </p:cNvPr>
          <p:cNvSpPr txBox="1"/>
          <p:nvPr/>
        </p:nvSpPr>
        <p:spPr>
          <a:xfrm>
            <a:off x="101705" y="87054"/>
            <a:ext cx="11155680" cy="640080"/>
          </a:xfrm>
          <a:prstGeom prst="rect">
            <a:avLst/>
          </a:prstGeom>
          <a:noFill/>
        </p:spPr>
        <p:txBody>
          <a:bodyPr wrap="square" lIns="45720" tIns="27432" rIns="45720" bIns="27432" anchor="t">
            <a:spAutoFit/>
          </a:bodyPr>
          <a:lstStyle/>
          <a:p>
            <a:pPr algn="l">
              <a:lnSpc>
                <a:spcPct val="105000"/>
              </a:lnSpc>
              <a:spcAft>
                <a:spcPts val="600"/>
              </a:spcAft>
            </a:pPr>
            <a:r>
              <a:rPr sz="3000" b="1" i="0" dirty="0">
                <a:solidFill>
                  <a:srgbClr val="1F2933"/>
                </a:solidFill>
                <a:latin typeface="Calibri"/>
              </a:rPr>
              <a:t>Wider area: Lucknow district</a:t>
            </a:r>
          </a:p>
        </p:txBody>
      </p:sp>
      <p:sp>
        <p:nvSpPr>
          <p:cNvPr id="6" name="TextBox 5">
            <a:extLst>
              <a:ext uri="{FF2B5EF4-FFF2-40B4-BE49-F238E27FC236}">
                <a16:creationId xmlns:a16="http://schemas.microsoft.com/office/drawing/2014/main" id="{48C7B030-BD56-76EA-580C-C97344652EE6}"/>
              </a:ext>
            </a:extLst>
          </p:cNvPr>
          <p:cNvSpPr txBox="1"/>
          <p:nvPr/>
        </p:nvSpPr>
        <p:spPr>
          <a:xfrm>
            <a:off x="204340" y="790253"/>
            <a:ext cx="11155680" cy="411480"/>
          </a:xfrm>
          <a:prstGeom prst="rect">
            <a:avLst/>
          </a:prstGeom>
          <a:noFill/>
        </p:spPr>
        <p:txBody>
          <a:bodyPr wrap="square" lIns="45720" tIns="27432" rIns="45720" bIns="27432" anchor="t">
            <a:spAutoFit/>
          </a:bodyPr>
          <a:lstStyle/>
          <a:p>
            <a:pPr algn="l">
              <a:lnSpc>
                <a:spcPct val="105000"/>
              </a:lnSpc>
              <a:spcAft>
                <a:spcPts val="600"/>
              </a:spcAft>
            </a:pPr>
            <a:r>
              <a:rPr sz="1600" b="0" i="0" dirty="0">
                <a:solidFill>
                  <a:srgbClr val="6B7280"/>
                </a:solidFill>
                <a:latin typeface="Calibri"/>
              </a:rPr>
              <a:t>FAO GAUL 2015 district polygon (about 2,530 km²)</a:t>
            </a:r>
          </a:p>
        </p:txBody>
      </p:sp>
      <p:pic>
        <p:nvPicPr>
          <p:cNvPr id="8" name="Picture 7" descr="graphs.png">
            <a:extLst>
              <a:ext uri="{FF2B5EF4-FFF2-40B4-BE49-F238E27FC236}">
                <a16:creationId xmlns:a16="http://schemas.microsoft.com/office/drawing/2014/main" id="{DC1FE917-B5D9-AD6D-26E3-12644E86EAB2}"/>
              </a:ext>
            </a:extLst>
          </p:cNvPr>
          <p:cNvPicPr>
            <a:picLocks noChangeAspect="1"/>
          </p:cNvPicPr>
          <p:nvPr/>
        </p:nvPicPr>
        <p:blipFill>
          <a:blip r:embed="rId2"/>
          <a:stretch>
            <a:fillRect/>
          </a:stretch>
        </p:blipFill>
        <p:spPr>
          <a:xfrm>
            <a:off x="502920" y="1522101"/>
            <a:ext cx="11155680" cy="3265157"/>
          </a:xfrm>
          <a:prstGeom prst="rect">
            <a:avLst/>
          </a:prstGeom>
        </p:spPr>
      </p:pic>
      <p:sp>
        <p:nvSpPr>
          <p:cNvPr id="10" name="TextBox 9">
            <a:extLst>
              <a:ext uri="{FF2B5EF4-FFF2-40B4-BE49-F238E27FC236}">
                <a16:creationId xmlns:a16="http://schemas.microsoft.com/office/drawing/2014/main" id="{BBC191D6-CE90-C45C-FCE3-A1C009BE71AD}"/>
              </a:ext>
            </a:extLst>
          </p:cNvPr>
          <p:cNvSpPr txBox="1"/>
          <p:nvPr/>
        </p:nvSpPr>
        <p:spPr>
          <a:xfrm>
            <a:off x="502920" y="5074920"/>
            <a:ext cx="11155680" cy="1280160"/>
          </a:xfrm>
          <a:prstGeom prst="rect">
            <a:avLst/>
          </a:prstGeom>
          <a:noFill/>
        </p:spPr>
        <p:txBody>
          <a:bodyPr wrap="square" lIns="45720" tIns="27432" rIns="45720" bIns="27432" anchor="t">
            <a:spAutoFit/>
          </a:bodyPr>
          <a:lstStyle/>
          <a:p>
            <a:pPr marL="285750" indent="-285750" algn="l">
              <a:lnSpc>
                <a:spcPct val="105000"/>
              </a:lnSpc>
              <a:spcAft>
                <a:spcPts val="800"/>
              </a:spcAft>
              <a:buClr>
                <a:srgbClr val="BD0026"/>
              </a:buClr>
              <a:buChar char="•"/>
            </a:pPr>
            <a:r>
              <a:rPr sz="1600" b="0" i="0">
                <a:solidFill>
                  <a:srgbClr val="1F2933"/>
                </a:solidFill>
                <a:latin typeface="Calibri"/>
              </a:rPr>
              <a:t>Total: 74.7 → 152.2 km² (+77.4 km², +103.6%, 3.62%/yr); non-residential: 2.03 → 2.92 km² (+0.89 km², +43.6%, 1.83%/yr)</a:t>
            </a:r>
          </a:p>
          <a:p>
            <a:pPr marL="285750" indent="-285750" algn="l">
              <a:lnSpc>
                <a:spcPct val="105000"/>
              </a:lnSpc>
              <a:spcAft>
                <a:spcPts val="800"/>
              </a:spcAft>
              <a:buClr>
                <a:srgbClr val="BD0026"/>
              </a:buClr>
              <a:buChar char="•"/>
            </a:pPr>
            <a:r>
              <a:rPr sz="1600" b="0" i="0">
                <a:solidFill>
                  <a:srgbClr val="1F2933"/>
                </a:solidFill>
                <a:latin typeface="Calibri"/>
              </a:rPr>
              <a:t>Non-residential share fell from 2.72% to 1.92%</a:t>
            </a:r>
          </a:p>
        </p:txBody>
      </p:sp>
    </p:spTree>
    <p:extLst>
      <p:ext uri="{BB962C8B-B14F-4D97-AF65-F5344CB8AC3E}">
        <p14:creationId xmlns:p14="http://schemas.microsoft.com/office/powerpoint/2010/main" val="1009177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Total vs non-residential growth</a:t>
            </a:r>
            <a:endParaRPr lang="en-US" sz="3200" dirty="0"/>
          </a:p>
        </p:txBody>
      </p:sp>
      <p:graphicFrame>
        <p:nvGraphicFramePr>
          <p:cNvPr id="4" name="Chart 0"/>
          <p:cNvGraphicFramePr/>
          <p:nvPr/>
        </p:nvGraphicFramePr>
        <p:xfrm>
          <a:off x="548640" y="1280160"/>
          <a:ext cx="6309360" cy="4846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132320" y="1325880"/>
          <a:ext cx="4480560" cy="3200400"/>
        </p:xfrm>
        <a:graphic>
          <a:graphicData uri="http://schemas.openxmlformats.org/drawingml/2006/table">
            <a:tbl>
              <a:tblPr/>
              <a:tblGrid>
                <a:gridCol w="21031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rgbClr val="FFFFFF"/>
                          </a:solidFill>
                        </a:rPr>
                        <a:t>Metric</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tc>
                  <a:txBody>
                    <a:bodyPr/>
                    <a:lstStyle/>
                    <a:p>
                      <a:pPr marL="0" indent="0" algn="ctr">
                        <a:buNone/>
                      </a:pPr>
                      <a:r>
                        <a:rPr lang="en-US" sz="1400" b="1" dirty="0">
                          <a:solidFill>
                            <a:srgbClr val="FFFFFF"/>
                          </a:solidFill>
                        </a:rPr>
                        <a:t>Total</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tc>
                  <a:txBody>
                    <a:bodyPr/>
                    <a:lstStyle/>
                    <a:p>
                      <a:pPr marL="0" indent="0" algn="ctr">
                        <a:buNone/>
                      </a:pPr>
                      <a:r>
                        <a:rPr lang="en-US" sz="1400" b="1" dirty="0">
                          <a:solidFill>
                            <a:srgbClr val="FFFFFF"/>
                          </a:solidFill>
                        </a:rPr>
                        <a:t>Non-res.</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extLst>
                  <a:ext uri="{0D108BD9-81ED-4DB2-BD59-A6C34878D82A}">
                    <a16:rowId xmlns:a16="http://schemas.microsoft.com/office/drawing/2014/main" val="10000"/>
                  </a:ext>
                </a:extLst>
              </a:tr>
              <a:tr h="457200">
                <a:tc>
                  <a:txBody>
                    <a:bodyPr/>
                    <a:lstStyle/>
                    <a:p>
                      <a:pPr marL="0" indent="0" algn="l">
                        <a:buNone/>
                      </a:pPr>
                      <a:r>
                        <a:rPr lang="en-US" sz="1400" b="1" dirty="0">
                          <a:solidFill>
                            <a:srgbClr val="1B1B2F"/>
                          </a:solidFill>
                        </a:rPr>
                        <a:t>2000 (km²)</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55.42</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1.92</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400" b="1" dirty="0">
                          <a:solidFill>
                            <a:srgbClr val="1B1B2F"/>
                          </a:solidFill>
                        </a:rPr>
                        <a:t>2020 (km²)</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78.08</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2.58</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2"/>
                  </a:ext>
                </a:extLst>
              </a:tr>
              <a:tr h="457200">
                <a:tc>
                  <a:txBody>
                    <a:bodyPr/>
                    <a:lstStyle/>
                    <a:p>
                      <a:pPr marL="0" indent="0" algn="l">
                        <a:buNone/>
                      </a:pPr>
                      <a:r>
                        <a:rPr lang="en-US" sz="1400" b="1" dirty="0">
                          <a:solidFill>
                            <a:srgbClr val="1B1B2F"/>
                          </a:solidFill>
                        </a:rPr>
                        <a:t>Change (km²)</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+22.66</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+0.66</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400" b="1" dirty="0">
                          <a:solidFill>
                            <a:srgbClr val="1B1B2F"/>
                          </a:solidFill>
                        </a:rPr>
                        <a:t>Change (%)</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+40.9</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+34.4</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4"/>
                  </a:ext>
                </a:extLst>
              </a:tr>
              <a:tr h="457200">
                <a:tc>
                  <a:txBody>
                    <a:bodyPr/>
                    <a:lstStyle/>
                    <a:p>
                      <a:pPr marL="0" indent="0" algn="l">
                        <a:buNone/>
                      </a:pPr>
                      <a:r>
                        <a:rPr lang="en-US" sz="1400" b="1" dirty="0">
                          <a:solidFill>
                            <a:srgbClr val="1B1B2F"/>
                          </a:solidFill>
                        </a:rPr>
                        <a:t>Annual growth (%/yr)</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1.73</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1.49</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400" b="1" dirty="0">
                          <a:solidFill>
                            <a:srgbClr val="1B1B2F"/>
                          </a:solidFill>
                        </a:rPr>
                        <a:t>Index in 2020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140.9</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134.4</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6"/>
                  </a:ext>
                </a:extLst>
              </a:tr>
            </a:tbl>
          </a:graphicData>
        </a:graphic>
      </p:graphicFrame>
      <p:sp>
        <p:nvSpPr>
          <p:cNvPr id="6" name="Text 1"/>
          <p:cNvSpPr txBox="1"/>
          <p:nvPr/>
        </p:nvSpPr>
        <p:spPr>
          <a:xfrm>
            <a:off x="7132320" y="4754880"/>
            <a:ext cx="4480560" cy="1188720"/>
          </a:xfrm>
          <a:prstGeom prst="rect">
            <a:avLst/>
          </a:prstGeom>
          <a:noFill/>
          <a:ln/>
        </p:spPr>
        <p:txBody>
          <a:bodyPr wrap="square" lIns="0" tIns="0" rIns="0" bIns="0" rtlCol="0" anchor="t"/>
          <a:lstStyle/>
          <a:p>
            <a:pPr marL="0" indent="0">
              <a:buNone/>
            </a:pPr>
            <a:r>
              <a:rPr lang="en-US" sz="1500" b="1" dirty="0">
                <a:solidFill>
                  <a:schemeClr val="accent2"/>
                </a:solidFill>
              </a:rPr>
              <a:t>Non-residential growth is 0.84 times the total growth (34.4% vs 40.9%).</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Built-up surface maps by epoch</a:t>
            </a:r>
            <a:endParaRPr lang="en-US" sz="3200" dirty="0"/>
          </a:p>
        </p:txBody>
      </p:sp>
      <p:pic>
        <p:nvPicPr>
          <p:cNvPr id="4" name="Image 0" descr="Built-up surface maps 2000 to 2020, total and non-residential, Lucknow district"/>
          <p:cNvPicPr>
            <a:picLocks noChangeAspect="1"/>
          </p:cNvPicPr>
          <p:nvPr/>
        </p:nvPicPr>
        <p:blipFill>
          <a:blip r:embed="rId3"/>
          <a:stretch>
            <a:fillRect/>
          </a:stretch>
        </p:blipFill>
        <p:spPr>
          <a:xfrm>
            <a:off x="548640" y="1280160"/>
            <a:ext cx="8768264" cy="4892040"/>
          </a:xfrm>
          <a:prstGeom prst="rect">
            <a:avLst/>
          </a:prstGeom>
        </p:spPr>
      </p:pic>
      <p:sp>
        <p:nvSpPr>
          <p:cNvPr id="5" name="mapNote"/>
          <p:cNvSpPr/>
          <p:nvPr/>
        </p:nvSpPr>
        <p:spPr>
          <a:xfrm>
            <a:off x="9509760" y="1325880"/>
            <a:ext cx="2103120" cy="4754880"/>
          </a:xfrm>
          <a:prstGeom prst="roundRect">
            <a:avLst>
              <a:gd name="adj" fmla="val 3478"/>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6" name="Text 2"/>
          <p:cNvSpPr txBox="1"/>
          <p:nvPr/>
        </p:nvSpPr>
        <p:spPr>
          <a:xfrm>
            <a:off x="9646920" y="1463040"/>
            <a:ext cx="1828800" cy="731520"/>
          </a:xfrm>
          <a:prstGeom prst="rect">
            <a:avLst/>
          </a:prstGeom>
          <a:noFill/>
          <a:ln/>
        </p:spPr>
        <p:txBody>
          <a:bodyPr wrap="square" lIns="0" tIns="0" rIns="0" bIns="0" rtlCol="0" anchor="t"/>
          <a:lstStyle/>
          <a:p>
            <a:pPr marL="0" indent="0">
              <a:buNone/>
            </a:pPr>
            <a:r>
              <a:rPr lang="en-US" sz="1400" b="1" dirty="0">
                <a:solidFill>
                  <a:schemeClr val="accent5"/>
                </a:solidFill>
              </a:rPr>
              <a:t>District view (about 2,530 km²)</a:t>
            </a:r>
            <a:endParaRPr lang="en-US" sz="1400" dirty="0"/>
          </a:p>
        </p:txBody>
      </p:sp>
      <p:sp>
        <p:nvSpPr>
          <p:cNvPr id="7" name="Text 3"/>
          <p:cNvSpPr txBox="1"/>
          <p:nvPr/>
        </p:nvSpPr>
        <p:spPr>
          <a:xfrm>
            <a:off x="9646920" y="2286000"/>
            <a:ext cx="182880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Same scale for all panels</a:t>
            </a:r>
            <a:endParaRPr lang="en-US" sz="1400" dirty="0"/>
          </a:p>
          <a:p>
            <a:pPr marL="177800" indent="-177800">
              <a:spcAft>
                <a:spcPts val="800"/>
              </a:spcAft>
              <a:buSzPct val="100000"/>
              <a:buChar char="•"/>
            </a:pPr>
            <a:r>
              <a:rPr lang="en-US" sz="1400" dirty="0">
                <a:solidFill>
                  <a:schemeClr val="tx1"/>
                </a:solidFill>
              </a:rPr>
              <a:t>Dense core already built in 2000</a:t>
            </a:r>
            <a:endParaRPr lang="en-US" sz="1400" dirty="0"/>
          </a:p>
          <a:p>
            <a:pPr marL="177800" indent="-177800">
              <a:spcAft>
                <a:spcPts val="800"/>
              </a:spcAft>
              <a:buSzPct val="100000"/>
              <a:buChar char="•"/>
            </a:pPr>
            <a:r>
              <a:rPr lang="en-US" sz="1400" dirty="0">
                <a:solidFill>
                  <a:schemeClr val="tx1"/>
                </a:solidFill>
              </a:rPr>
              <a:t>Spread outward after 2010</a:t>
            </a:r>
            <a:endParaRPr lang="en-US" sz="1400" dirty="0"/>
          </a:p>
          <a:p>
            <a:pPr marL="177800" indent="-177800">
              <a:spcAft>
                <a:spcPts val="800"/>
              </a:spcAft>
              <a:buSzPct val="100000"/>
              <a:buChar char="•"/>
            </a:pPr>
            <a:r>
              <a:rPr lang="en-US" sz="1400" dirty="0">
                <a:solidFill>
                  <a:schemeClr val="tx1"/>
                </a:solidFill>
              </a:rPr>
              <a:t>Non-residential: few clusters</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Dynamic output: built-up surface through time</a:t>
            </a:r>
            <a:endParaRPr lang="en-US" sz="3200" dirty="0"/>
          </a:p>
        </p:txBody>
      </p:sp>
      <p:pic>
        <p:nvPicPr>
          <p:cNvPr id="4" name="Image 0" descr="Animated GIF of Lucknow built-up surface 2000 to 2020"/>
          <p:cNvPicPr>
            <a:picLocks noChangeAspect="1"/>
          </p:cNvPicPr>
          <p:nvPr/>
        </p:nvPicPr>
        <p:blipFill>
          <a:blip r:embed="rId3"/>
          <a:stretch>
            <a:fillRect/>
          </a:stretch>
        </p:blipFill>
        <p:spPr>
          <a:xfrm>
            <a:off x="548640" y="1280160"/>
            <a:ext cx="4572000" cy="4558937"/>
          </a:xfrm>
          <a:prstGeom prst="rect">
            <a:avLst/>
          </a:prstGeom>
        </p:spPr>
      </p:pic>
      <p:sp>
        <p:nvSpPr>
          <p:cNvPr id="5" name="dyn1"/>
          <p:cNvSpPr/>
          <p:nvPr/>
        </p:nvSpPr>
        <p:spPr>
          <a:xfrm>
            <a:off x="5577840" y="1325880"/>
            <a:ext cx="6035040" cy="1417320"/>
          </a:xfrm>
          <a:prstGeom prst="roundRect">
            <a:avLst>
              <a:gd name="adj" fmla="val 516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6" name="dynNum1"/>
          <p:cNvSpPr/>
          <p:nvPr/>
        </p:nvSpPr>
        <p:spPr>
          <a:xfrm>
            <a:off x="5806440" y="1508760"/>
            <a:ext cx="457200" cy="457200"/>
          </a:xfrm>
          <a:prstGeom prst="ellipse">
            <a:avLst/>
          </a:prstGeom>
          <a:solidFill>
            <a:schemeClr val="accent1"/>
          </a:solidFill>
          <a:ln w="12700">
            <a:solidFill>
              <a:schemeClr val="accent1"/>
            </a:solidFill>
            <a:prstDash val="solid"/>
          </a:ln>
        </p:spPr>
      </p:sp>
      <p:sp>
        <p:nvSpPr>
          <p:cNvPr id="7" name="Text 3"/>
          <p:cNvSpPr txBox="1"/>
          <p:nvPr/>
        </p:nvSpPr>
        <p:spPr>
          <a:xfrm>
            <a:off x="5806440" y="15087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4"/>
          <p:cNvSpPr txBox="1"/>
          <p:nvPr/>
        </p:nvSpPr>
        <p:spPr>
          <a:xfrm>
            <a:off x="6446520" y="1463040"/>
            <a:ext cx="4937760" cy="365760"/>
          </a:xfrm>
          <a:prstGeom prst="rect">
            <a:avLst/>
          </a:prstGeom>
          <a:noFill/>
          <a:ln/>
        </p:spPr>
        <p:txBody>
          <a:bodyPr wrap="square" lIns="0" tIns="0" rIns="0" bIns="0" rtlCol="0" anchor="t"/>
          <a:lstStyle/>
          <a:p>
            <a:pPr marL="0" indent="0">
              <a:buNone/>
            </a:pPr>
            <a:r>
              <a:rPr lang="en-US" sz="1600" b="1" dirty="0">
                <a:solidFill>
                  <a:schemeClr val="tx1"/>
                </a:solidFill>
              </a:rPr>
              <a:t>Animated GIF</a:t>
            </a:r>
            <a:endParaRPr lang="en-US" sz="1600" dirty="0"/>
          </a:p>
        </p:txBody>
      </p:sp>
      <p:sp>
        <p:nvSpPr>
          <p:cNvPr id="9" name="Text 5"/>
          <p:cNvSpPr txBox="1"/>
          <p:nvPr/>
        </p:nvSpPr>
        <p:spPr>
          <a:xfrm>
            <a:off x="6446520" y="1874520"/>
            <a:ext cx="4937760" cy="822960"/>
          </a:xfrm>
          <a:prstGeom prst="rect">
            <a:avLst/>
          </a:prstGeom>
          <a:noFill/>
          <a:ln/>
        </p:spPr>
        <p:txBody>
          <a:bodyPr wrap="square" lIns="0" tIns="0" rIns="0" bIns="0" rtlCol="0" anchor="t"/>
          <a:lstStyle/>
          <a:p>
            <a:pPr marL="0" indent="0">
              <a:buNone/>
            </a:pPr>
            <a:r>
              <a:rPr lang="en-US" sz="1400" dirty="0">
                <a:solidFill>
                  <a:schemeClr val="tx1"/>
                </a:solidFill>
              </a:rPr>
              <a:t>Five frames, 2000 → 2020, fixed colour scale. Shows the dense core filling in and settlements spreading.</a:t>
            </a:r>
            <a:endParaRPr lang="en-US" sz="1400" dirty="0"/>
          </a:p>
        </p:txBody>
      </p:sp>
      <p:sp>
        <p:nvSpPr>
          <p:cNvPr id="10" name="dyn2"/>
          <p:cNvSpPr/>
          <p:nvPr/>
        </p:nvSpPr>
        <p:spPr>
          <a:xfrm>
            <a:off x="5577840" y="2926080"/>
            <a:ext cx="6035040" cy="1417320"/>
          </a:xfrm>
          <a:prstGeom prst="roundRect">
            <a:avLst>
              <a:gd name="adj" fmla="val 516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1" name="dynNum2"/>
          <p:cNvSpPr/>
          <p:nvPr/>
        </p:nvSpPr>
        <p:spPr>
          <a:xfrm>
            <a:off x="5806440" y="3108960"/>
            <a:ext cx="457200" cy="457200"/>
          </a:xfrm>
          <a:prstGeom prst="ellipse">
            <a:avLst/>
          </a:prstGeom>
          <a:solidFill>
            <a:schemeClr val="accent1"/>
          </a:solidFill>
          <a:ln w="12700">
            <a:solidFill>
              <a:schemeClr val="accent1"/>
            </a:solidFill>
            <a:prstDash val="solid"/>
          </a:ln>
        </p:spPr>
      </p:sp>
      <p:sp>
        <p:nvSpPr>
          <p:cNvPr id="12" name="Text 8"/>
          <p:cNvSpPr txBox="1"/>
          <p:nvPr/>
        </p:nvSpPr>
        <p:spPr>
          <a:xfrm>
            <a:off x="5806440" y="31089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9"/>
          <p:cNvSpPr txBox="1"/>
          <p:nvPr/>
        </p:nvSpPr>
        <p:spPr>
          <a:xfrm>
            <a:off x="6446520" y="3063240"/>
            <a:ext cx="4937760" cy="365760"/>
          </a:xfrm>
          <a:prstGeom prst="rect">
            <a:avLst/>
          </a:prstGeom>
          <a:noFill/>
          <a:ln/>
        </p:spPr>
        <p:txBody>
          <a:bodyPr wrap="square" lIns="0" tIns="0" rIns="0" bIns="0" rtlCol="0" anchor="t"/>
          <a:lstStyle/>
          <a:p>
            <a:pPr marL="0" indent="0">
              <a:buNone/>
            </a:pPr>
            <a:r>
              <a:rPr lang="en-US" sz="1600" b="1" dirty="0">
                <a:solidFill>
                  <a:schemeClr val="tx1"/>
                </a:solidFill>
              </a:rPr>
              <a:t>HTML time slider</a:t>
            </a:r>
            <a:endParaRPr lang="en-US" sz="1600" dirty="0"/>
          </a:p>
        </p:txBody>
      </p:sp>
      <p:sp>
        <p:nvSpPr>
          <p:cNvPr id="14" name="Text 10"/>
          <p:cNvSpPr txBox="1"/>
          <p:nvPr/>
        </p:nvSpPr>
        <p:spPr>
          <a:xfrm>
            <a:off x="6446520" y="3474720"/>
            <a:ext cx="4937760" cy="822960"/>
          </a:xfrm>
          <a:prstGeom prst="rect">
            <a:avLst/>
          </a:prstGeom>
          <a:noFill/>
          <a:ln/>
        </p:spPr>
        <p:txBody>
          <a:bodyPr wrap="square" lIns="0" tIns="0" rIns="0" bIns="0" rtlCol="0" anchor="t"/>
          <a:lstStyle/>
          <a:p>
            <a:pPr marL="0" indent="0">
              <a:buNone/>
            </a:pPr>
            <a:r>
              <a:rPr lang="en-US" sz="1400" dirty="0">
                <a:solidFill>
                  <a:schemeClr val="tx1"/>
                </a:solidFill>
              </a:rPr>
              <a:t>Year slider on the project webpage with a Leaflet map on OpenStreetMap. Opens in any browser.</a:t>
            </a:r>
            <a:endParaRPr lang="en-US" sz="1400" dirty="0"/>
          </a:p>
        </p:txBody>
      </p:sp>
      <p:sp>
        <p:nvSpPr>
          <p:cNvPr id="15" name="dyn3"/>
          <p:cNvSpPr/>
          <p:nvPr/>
        </p:nvSpPr>
        <p:spPr>
          <a:xfrm>
            <a:off x="5577840" y="4526280"/>
            <a:ext cx="6035040" cy="1417320"/>
          </a:xfrm>
          <a:prstGeom prst="roundRect">
            <a:avLst>
              <a:gd name="adj" fmla="val 516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6" name="dynNum3"/>
          <p:cNvSpPr/>
          <p:nvPr/>
        </p:nvSpPr>
        <p:spPr>
          <a:xfrm>
            <a:off x="5806440" y="4709160"/>
            <a:ext cx="457200" cy="457200"/>
          </a:xfrm>
          <a:prstGeom prst="ellipse">
            <a:avLst/>
          </a:prstGeom>
          <a:solidFill>
            <a:schemeClr val="accent6"/>
          </a:solidFill>
          <a:ln w="12700">
            <a:solidFill>
              <a:schemeClr val="accent6"/>
            </a:solidFill>
            <a:prstDash val="solid"/>
          </a:ln>
        </p:spPr>
      </p:sp>
      <p:sp>
        <p:nvSpPr>
          <p:cNvPr id="17" name="Text 13"/>
          <p:cNvSpPr txBox="1"/>
          <p:nvPr/>
        </p:nvSpPr>
        <p:spPr>
          <a:xfrm>
            <a:off x="5806440" y="47091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Text 14"/>
          <p:cNvSpPr txBox="1"/>
          <p:nvPr/>
        </p:nvSpPr>
        <p:spPr>
          <a:xfrm>
            <a:off x="6446520" y="4663440"/>
            <a:ext cx="4937760" cy="365760"/>
          </a:xfrm>
          <a:prstGeom prst="rect">
            <a:avLst/>
          </a:prstGeom>
          <a:noFill/>
          <a:ln/>
        </p:spPr>
        <p:txBody>
          <a:bodyPr wrap="square" lIns="0" tIns="0" rIns="0" bIns="0" rtlCol="0" anchor="t"/>
          <a:lstStyle/>
          <a:p>
            <a:pPr marL="0" indent="0">
              <a:buNone/>
            </a:pPr>
            <a:r>
              <a:rPr lang="en-US" sz="1600" b="1" dirty="0">
                <a:solidFill>
                  <a:schemeClr val="tx1"/>
                </a:solidFill>
              </a:rPr>
              <a:t>Interpolated years</a:t>
            </a:r>
            <a:endParaRPr lang="en-US" sz="1600" dirty="0"/>
          </a:p>
        </p:txBody>
      </p:sp>
      <p:sp>
        <p:nvSpPr>
          <p:cNvPr id="19" name="Text 15"/>
          <p:cNvSpPr txBox="1"/>
          <p:nvPr/>
        </p:nvSpPr>
        <p:spPr>
          <a:xfrm>
            <a:off x="6446520" y="5074920"/>
            <a:ext cx="4937760" cy="822960"/>
          </a:xfrm>
          <a:prstGeom prst="rect">
            <a:avLst/>
          </a:prstGeom>
          <a:noFill/>
          <a:ln/>
        </p:spPr>
        <p:txBody>
          <a:bodyPr wrap="square" lIns="0" tIns="0" rIns="0" bIns="0" rtlCol="0" anchor="t"/>
          <a:lstStyle/>
          <a:p>
            <a:pPr marL="0" indent="0">
              <a:buNone/>
            </a:pPr>
            <a:r>
              <a:rPr lang="en-US" sz="1400" dirty="0">
                <a:solidFill>
                  <a:schemeClr val="tx1"/>
                </a:solidFill>
              </a:rPr>
              <a:t>Yearly frames are interpolated between 5-year epochs, so intermediate years are illustrative.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Where did built-up surface grow? 2 km grid</a:t>
            </a:r>
            <a:endParaRPr lang="en-US" sz="3200" dirty="0"/>
          </a:p>
        </p:txBody>
      </p:sp>
      <p:pic>
        <p:nvPicPr>
          <p:cNvPr id="4" name="Image 0" descr="Built-up gain by 2 km grid cell, Lucknow municipal area, 2000 to 2020"/>
          <p:cNvPicPr>
            <a:picLocks noChangeAspect="1"/>
          </p:cNvPicPr>
          <p:nvPr/>
        </p:nvPicPr>
        <p:blipFill>
          <a:blip r:embed="rId3"/>
          <a:stretch>
            <a:fillRect/>
          </a:stretch>
        </p:blipFill>
        <p:spPr>
          <a:xfrm>
            <a:off x="548640" y="1280160"/>
            <a:ext cx="5251681" cy="4846320"/>
          </a:xfrm>
          <a:prstGeom prst="rect">
            <a:avLst/>
          </a:prstGeom>
        </p:spPr>
      </p:pic>
      <p:sp>
        <p:nvSpPr>
          <p:cNvPr id="5" name="zoneStat"/>
          <p:cNvSpPr/>
          <p:nvPr/>
        </p:nvSpPr>
        <p:spPr>
          <a:xfrm>
            <a:off x="6309360" y="1325880"/>
            <a:ext cx="5303520" cy="1371600"/>
          </a:xfrm>
          <a:prstGeom prst="roundRect">
            <a:avLst>
              <a:gd name="adj" fmla="val 5333"/>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6" name="Text 2"/>
          <p:cNvSpPr txBox="1"/>
          <p:nvPr/>
        </p:nvSpPr>
        <p:spPr>
          <a:xfrm>
            <a:off x="6537960" y="1463040"/>
            <a:ext cx="4846320" cy="59436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About 1.1 km²</a:t>
            </a:r>
            <a:endParaRPr lang="en-US" sz="2800" dirty="0"/>
          </a:p>
        </p:txBody>
      </p:sp>
      <p:sp>
        <p:nvSpPr>
          <p:cNvPr id="7" name="Text 3"/>
          <p:cNvSpPr txBox="1"/>
          <p:nvPr/>
        </p:nvSpPr>
        <p:spPr>
          <a:xfrm>
            <a:off x="6537960" y="2103120"/>
            <a:ext cx="4846320" cy="548640"/>
          </a:xfrm>
          <a:prstGeom prst="rect">
            <a:avLst/>
          </a:prstGeom>
          <a:noFill/>
          <a:ln/>
        </p:spPr>
        <p:txBody>
          <a:bodyPr wrap="square" lIns="0" tIns="0" rIns="0" bIns="0" rtlCol="0" anchor="t"/>
          <a:lstStyle/>
          <a:p>
            <a:pPr marL="0" indent="0">
              <a:buNone/>
            </a:pPr>
            <a:r>
              <a:rPr lang="en-US" sz="1400" dirty="0">
                <a:solidFill>
                  <a:schemeClr val="tx1"/>
                </a:solidFill>
              </a:rPr>
              <a:t>largest gain in one 4 km² cell (roughly a quarter of the cell)</a:t>
            </a:r>
            <a:endParaRPr lang="en-US" sz="1400" dirty="0"/>
          </a:p>
        </p:txBody>
      </p:sp>
      <p:sp>
        <p:nvSpPr>
          <p:cNvPr id="8" name="Text 4"/>
          <p:cNvSpPr txBox="1"/>
          <p:nvPr/>
        </p:nvSpPr>
        <p:spPr>
          <a:xfrm>
            <a:off x="6309360" y="3017520"/>
            <a:ext cx="5303520" cy="301752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chemeClr val="tx1"/>
                </a:solidFill>
              </a:rPr>
              <a:t>Largest gains: north-central and east of the city</a:t>
            </a:r>
            <a:endParaRPr lang="en-US" sz="1600" dirty="0"/>
          </a:p>
          <a:p>
            <a:pPr marL="177800" indent="-177800">
              <a:spcAft>
                <a:spcPts val="800"/>
              </a:spcAft>
              <a:buSzPct val="100000"/>
              <a:buChar char="•"/>
            </a:pPr>
            <a:r>
              <a:rPr lang="en-US" sz="1600" dirty="0">
                <a:solidFill>
                  <a:schemeClr val="tx1"/>
                </a:solidFill>
              </a:rPr>
              <a:t>Moderate gains: west and south, along the edge of the dense core</a:t>
            </a:r>
            <a:endParaRPr lang="en-US" sz="1600" dirty="0"/>
          </a:p>
          <a:p>
            <a:pPr marL="177800" indent="-177800">
              <a:spcAft>
                <a:spcPts val="800"/>
              </a:spcAft>
              <a:buSzPct val="100000"/>
              <a:buChar char="•"/>
            </a:pPr>
            <a:r>
              <a:rPr lang="en-US" sz="1600" dirty="0">
                <a:solidFill>
                  <a:schemeClr val="tx1"/>
                </a:solidFill>
              </a:rPr>
              <a:t>Built-up cover rose from 20.0% to 28.2% of the city area</a:t>
            </a:r>
            <a:endParaRPr lang="en-US" sz="1600" dirty="0"/>
          </a:p>
          <a:p>
            <a:pPr marL="177800" indent="-177800">
              <a:spcAft>
                <a:spcPts val="800"/>
              </a:spcAft>
              <a:buSzPct val="100000"/>
              <a:buChar char="•"/>
            </a:pPr>
            <a:r>
              <a:rPr lang="en-US" sz="1600" dirty="0">
                <a:solidFill>
                  <a:schemeClr val="tx1"/>
                </a:solidFill>
              </a:rPr>
              <a:t>The core was already built in 2000, so growth is mostly infill plus edge expansion</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Change maps: total vs non-residential, 2000–2020</a:t>
            </a:r>
            <a:endParaRPr lang="en-US" sz="3200" dirty="0"/>
          </a:p>
        </p:txBody>
      </p:sp>
      <p:pic>
        <p:nvPicPr>
          <p:cNvPr id="4" name="Image 0" descr="Change in total and non-residential built-up surface 2000 to 2020"/>
          <p:cNvPicPr>
            <a:picLocks noChangeAspect="1"/>
          </p:cNvPicPr>
          <p:nvPr/>
        </p:nvPicPr>
        <p:blipFill>
          <a:blip r:embed="rId3"/>
          <a:stretch>
            <a:fillRect/>
          </a:stretch>
        </p:blipFill>
        <p:spPr>
          <a:xfrm>
            <a:off x="548640" y="1280160"/>
            <a:ext cx="7638571" cy="4846320"/>
          </a:xfrm>
          <a:prstGeom prst="rect">
            <a:avLst/>
          </a:prstGeom>
        </p:spPr>
      </p:pic>
      <p:sp>
        <p:nvSpPr>
          <p:cNvPr id="5" name="changeNote"/>
          <p:cNvSpPr/>
          <p:nvPr/>
        </p:nvSpPr>
        <p:spPr>
          <a:xfrm>
            <a:off x="8412480" y="1325880"/>
            <a:ext cx="3200400" cy="4754880"/>
          </a:xfrm>
          <a:prstGeom prst="roundRect">
            <a:avLst>
              <a:gd name="adj" fmla="val 228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6" name="Text 2"/>
          <p:cNvSpPr txBox="1"/>
          <p:nvPr/>
        </p:nvSpPr>
        <p:spPr>
          <a:xfrm>
            <a:off x="8641080" y="1463040"/>
            <a:ext cx="2743200" cy="365760"/>
          </a:xfrm>
          <a:prstGeom prst="rect">
            <a:avLst/>
          </a:prstGeom>
          <a:noFill/>
          <a:ln/>
        </p:spPr>
        <p:txBody>
          <a:bodyPr wrap="square" lIns="0" tIns="0" rIns="0" bIns="0" rtlCol="0" anchor="t"/>
          <a:lstStyle/>
          <a:p>
            <a:pPr marL="0" indent="0">
              <a:buNone/>
            </a:pPr>
            <a:r>
              <a:rPr lang="en-US" sz="1600" b="1" dirty="0">
                <a:solidFill>
                  <a:schemeClr val="accent5"/>
                </a:solidFill>
              </a:rPr>
              <a:t>District view</a:t>
            </a:r>
            <a:endParaRPr lang="en-US" sz="1600" dirty="0"/>
          </a:p>
        </p:txBody>
      </p:sp>
      <p:sp>
        <p:nvSpPr>
          <p:cNvPr id="7" name="Text 3"/>
          <p:cNvSpPr txBox="1"/>
          <p:nvPr/>
        </p:nvSpPr>
        <p:spPr>
          <a:xfrm>
            <a:off x="8641080" y="1920240"/>
            <a:ext cx="2743200" cy="402336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Same ±3,000 m² scale on both maps</a:t>
            </a:r>
            <a:endParaRPr lang="en-US" sz="1500" dirty="0"/>
          </a:p>
          <a:p>
            <a:pPr marL="177800" indent="-177800">
              <a:spcAft>
                <a:spcPts val="800"/>
              </a:spcAft>
              <a:buSzPct val="100000"/>
              <a:buChar char="•"/>
            </a:pPr>
            <a:r>
              <a:rPr lang="en-US" sz="1500" dirty="0">
                <a:solidFill>
                  <a:schemeClr val="tx1"/>
                </a:solidFill>
              </a:rPr>
              <a:t>Total gain: strong around the core, scattered elsewhere</a:t>
            </a:r>
            <a:endParaRPr lang="en-US" sz="1500" dirty="0"/>
          </a:p>
          <a:p>
            <a:pPr marL="177800" indent="-177800">
              <a:spcAft>
                <a:spcPts val="800"/>
              </a:spcAft>
              <a:buSzPct val="100000"/>
              <a:buChar char="•"/>
            </a:pPr>
            <a:r>
              <a:rPr lang="en-US" sz="1500" dirty="0">
                <a:solidFill>
                  <a:schemeClr val="tx1"/>
                </a:solidFill>
              </a:rPr>
              <a:t>Non-residential gain: only a few clusters</a:t>
            </a:r>
            <a:endParaRPr lang="en-US" sz="1500" dirty="0"/>
          </a:p>
          <a:p>
            <a:pPr marL="177800" indent="-177800">
              <a:spcAft>
                <a:spcPts val="800"/>
              </a:spcAft>
              <a:buSzPct val="100000"/>
              <a:buChar char="•"/>
            </a:pPr>
            <a:r>
              <a:rPr lang="en-US" sz="1500" dirty="0">
                <a:solidFill>
                  <a:schemeClr val="tx1"/>
                </a:solidFill>
              </a:rPr>
              <a:t>District totals: +77.4 km² vs +0.89 km²</a:t>
            </a:r>
            <a:endParaRPr lang="en-US" sz="1500" dirty="0"/>
          </a:p>
          <a:p>
            <a:pPr marL="177800" indent="-177800">
              <a:spcAft>
                <a:spcPts val="800"/>
              </a:spcAft>
              <a:buSzPct val="100000"/>
              <a:buChar char="•"/>
            </a:pPr>
            <a:r>
              <a:rPr lang="en-US" sz="1500" dirty="0">
                <a:solidFill>
                  <a:schemeClr val="tx1"/>
                </a:solidFill>
              </a:rPr>
              <a:t>No cell lost built-up surface</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Cell-level gain statistics: municipal area</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3840480"/>
        </p:xfrm>
        <a:graphic>
          <a:graphicData uri="http://schemas.openxmlformats.org/drawingml/2006/table">
            <a:tbl>
              <a:tblPr/>
              <a:tblGrid>
                <a:gridCol w="40233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548640">
                <a:tc>
                  <a:txBody>
                    <a:bodyPr/>
                    <a:lstStyle/>
                    <a:p>
                      <a:pPr marL="0" indent="0" algn="l">
                        <a:buNone/>
                      </a:pPr>
                      <a:r>
                        <a:rPr lang="en-US" sz="1400" b="1" dirty="0">
                          <a:solidFill>
                            <a:srgbClr val="FFFFFF"/>
                          </a:solidFill>
                        </a:rPr>
                        <a:t>Statistic</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tc>
                  <a:txBody>
                    <a:bodyPr/>
                    <a:lstStyle/>
                    <a:p>
                      <a:pPr marL="0" indent="0" algn="ctr">
                        <a:buNone/>
                      </a:pPr>
                      <a:r>
                        <a:rPr lang="en-US" sz="1400" b="1" dirty="0">
                          <a:solidFill>
                            <a:srgbClr val="FFFFFF"/>
                          </a:solidFill>
                        </a:rPr>
                        <a:t>Total</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tc>
                  <a:txBody>
                    <a:bodyPr/>
                    <a:lstStyle/>
                    <a:p>
                      <a:pPr marL="0" indent="0" algn="ctr">
                        <a:buNone/>
                      </a:pPr>
                      <a:r>
                        <a:rPr lang="en-US" sz="1400" b="1" dirty="0">
                          <a:solidFill>
                            <a:srgbClr val="FFFFFF"/>
                          </a:solidFill>
                        </a:rPr>
                        <a:t>Non-residential</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1B1B2F"/>
                    </a:solidFill>
                  </a:tcPr>
                </a:tc>
                <a:extLst>
                  <a:ext uri="{0D108BD9-81ED-4DB2-BD59-A6C34878D82A}">
                    <a16:rowId xmlns:a16="http://schemas.microsoft.com/office/drawing/2014/main" val="10000"/>
                  </a:ext>
                </a:extLst>
              </a:tr>
              <a:tr h="548640">
                <a:tc>
                  <a:txBody>
                    <a:bodyPr/>
                    <a:lstStyle/>
                    <a:p>
                      <a:pPr marL="0" indent="0" algn="l">
                        <a:buNone/>
                      </a:pPr>
                      <a:r>
                        <a:rPr lang="en-US" sz="1400" b="1" dirty="0">
                          <a:solidFill>
                            <a:srgbClr val="1B1B2F"/>
                          </a:solidFill>
                        </a:rPr>
                        <a:t>Mean gain per cell (m²)</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813</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24</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400" b="1" dirty="0">
                          <a:solidFill>
                            <a:srgbClr val="1B1B2F"/>
                          </a:solidFill>
                        </a:rPr>
                        <a:t>Standard deviation (m²)</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1,308</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226</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2"/>
                  </a:ext>
                </a:extLst>
              </a:tr>
              <a:tr h="548640">
                <a:tc>
                  <a:txBody>
                    <a:bodyPr/>
                    <a:lstStyle/>
                    <a:p>
                      <a:pPr marL="0" indent="0" algn="l">
                        <a:buNone/>
                      </a:pPr>
                      <a:r>
                        <a:rPr lang="en-US" sz="1400" b="1" dirty="0">
                          <a:solidFill>
                            <a:srgbClr val="1B1B2F"/>
                          </a:solidFill>
                        </a:rPr>
                        <a:t>Maximum gain in one cell (m²)</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8,883</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6,808</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400" b="1" dirty="0">
                          <a:solidFill>
                            <a:srgbClr val="1B1B2F"/>
                          </a:solidFill>
                        </a:rPr>
                        <a:t>Area of cells with gain ≥ 100 m² (km²)</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138.43</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6.77</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4"/>
                  </a:ext>
                </a:extLst>
              </a:tr>
              <a:tr h="548640">
                <a:tc>
                  <a:txBody>
                    <a:bodyPr/>
                    <a:lstStyle/>
                    <a:p>
                      <a:pPr marL="0" indent="0" algn="l">
                        <a:buNone/>
                      </a:pPr>
                      <a:r>
                        <a:rPr lang="en-US" sz="1400" b="1" dirty="0">
                          <a:solidFill>
                            <a:srgbClr val="1B1B2F"/>
                          </a:solidFill>
                        </a:rPr>
                        <a:t>Area of cells with gain ≥ 1,000 m² (km²)</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72.15</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2F"/>
                          </a:solidFill>
                        </a:rPr>
                        <a:t>2.06</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400" b="1" dirty="0">
                          <a:solidFill>
                            <a:srgbClr val="1B1B2F"/>
                          </a:solidFill>
                        </a:rPr>
                        <a:t>Area of cells with gain ≥ 5,000 m² (km²)</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3.56</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tc>
                  <a:txBody>
                    <a:bodyPr/>
                    <a:lstStyle/>
                    <a:p>
                      <a:pPr marL="0" indent="0" algn="ctr">
                        <a:buNone/>
                      </a:pPr>
                      <a:r>
                        <a:rPr lang="en-US" sz="1400" dirty="0">
                          <a:solidFill>
                            <a:srgbClr val="1B1B2F"/>
                          </a:solidFill>
                        </a:rPr>
                        <a:t>0.10</a:t>
                      </a:r>
                      <a:endParaRPr lang="en-US" sz="1400" dirty="0"/>
                    </a:p>
                  </a:txBody>
                  <a:tcPr marL="109728" marR="109728" marT="0" marB="0" anchor="ctr">
                    <a:lnL w="9525" cap="flat" cmpd="sng" algn="ctr">
                      <a:solidFill>
                        <a:srgbClr val="D9D7E3"/>
                      </a:solidFill>
                      <a:prstDash val="solid"/>
                      <a:round/>
                      <a:headEnd type="none" w="med" len="med"/>
                      <a:tailEnd type="none" w="med" len="med"/>
                    </a:lnL>
                    <a:lnR w="9525" cap="flat" cmpd="sng" algn="ctr">
                      <a:solidFill>
                        <a:srgbClr val="D9D7E3"/>
                      </a:solidFill>
                      <a:prstDash val="solid"/>
                      <a:round/>
                      <a:headEnd type="none" w="med" len="med"/>
                      <a:tailEnd type="none" w="med" len="med"/>
                    </a:lnR>
                    <a:lnT w="9525" cap="flat" cmpd="sng" algn="ctr">
                      <a:solidFill>
                        <a:srgbClr val="D9D7E3"/>
                      </a:solidFill>
                      <a:prstDash val="solid"/>
                      <a:round/>
                      <a:headEnd type="none" w="med" len="med"/>
                      <a:tailEnd type="none" w="med" len="med"/>
                    </a:lnT>
                    <a:lnB w="9525" cap="flat" cmpd="sng" algn="ctr">
                      <a:solidFill>
                        <a:srgbClr val="D9D7E3"/>
                      </a:solidFill>
                      <a:prstDash val="solid"/>
                      <a:round/>
                      <a:headEnd type="none" w="med" len="med"/>
                      <a:tailEnd type="none" w="med" len="med"/>
                    </a:lnB>
                    <a:solidFill>
                      <a:srgbClr val="F3F2F7"/>
                    </a:solidFill>
                  </a:tcPr>
                </a:tc>
                <a:extLst>
                  <a:ext uri="{0D108BD9-81ED-4DB2-BD59-A6C34878D82A}">
                    <a16:rowId xmlns:a16="http://schemas.microsoft.com/office/drawing/2014/main" val="10006"/>
                  </a:ext>
                </a:extLst>
              </a:tr>
            </a:tbl>
          </a:graphicData>
        </a:graphic>
      </p:graphicFrame>
      <p:sp>
        <p:nvSpPr>
          <p:cNvPr id="5" name="meanStat"/>
          <p:cNvSpPr/>
          <p:nvPr/>
        </p:nvSpPr>
        <p:spPr>
          <a:xfrm>
            <a:off x="7863840" y="1325880"/>
            <a:ext cx="3749040" cy="2148840"/>
          </a:xfrm>
          <a:prstGeom prst="roundRect">
            <a:avLst>
              <a:gd name="adj" fmla="val 340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6" name="Text 2"/>
          <p:cNvSpPr txBox="1"/>
          <p:nvPr/>
        </p:nvSpPr>
        <p:spPr>
          <a:xfrm>
            <a:off x="8092440" y="1463040"/>
            <a:ext cx="3291840" cy="64008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813 vs 24 m²</a:t>
            </a:r>
            <a:endParaRPr lang="en-US" sz="2800" dirty="0"/>
          </a:p>
        </p:txBody>
      </p:sp>
      <p:sp>
        <p:nvSpPr>
          <p:cNvPr id="7" name="Text 3"/>
          <p:cNvSpPr txBox="1"/>
          <p:nvPr/>
        </p:nvSpPr>
        <p:spPr>
          <a:xfrm>
            <a:off x="8092440" y="2148840"/>
            <a:ext cx="3291840" cy="1188720"/>
          </a:xfrm>
          <a:prstGeom prst="rect">
            <a:avLst/>
          </a:prstGeom>
          <a:noFill/>
          <a:ln/>
        </p:spPr>
        <p:txBody>
          <a:bodyPr wrap="square" lIns="0" tIns="0" rIns="0" bIns="0" rtlCol="0" anchor="t"/>
          <a:lstStyle/>
          <a:p>
            <a:pPr marL="0" indent="0">
              <a:buNone/>
            </a:pPr>
            <a:r>
              <a:rPr lang="en-US" sz="1400" dirty="0">
                <a:solidFill>
                  <a:schemeClr val="tx1"/>
                </a:solidFill>
              </a:rPr>
              <a:t>mean gain per 100 m cell: total vs non-residential, a ratio of about 34 to 1</a:t>
            </a:r>
            <a:endParaRPr lang="en-US" sz="1400" dirty="0"/>
          </a:p>
        </p:txBody>
      </p:sp>
      <p:sp>
        <p:nvSpPr>
          <p:cNvPr id="8" name="halfStat"/>
          <p:cNvSpPr/>
          <p:nvPr/>
        </p:nvSpPr>
        <p:spPr>
          <a:xfrm>
            <a:off x="7863840" y="3703320"/>
            <a:ext cx="3749040" cy="2377440"/>
          </a:xfrm>
          <a:prstGeom prst="roundRect">
            <a:avLst>
              <a:gd name="adj" fmla="val 307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9" name="Text 5"/>
          <p:cNvSpPr txBox="1"/>
          <p:nvPr/>
        </p:nvSpPr>
        <p:spPr>
          <a:xfrm>
            <a:off x="8092440" y="3840480"/>
            <a:ext cx="3291840" cy="640080"/>
          </a:xfrm>
          <a:prstGeom prst="rect">
            <a:avLst/>
          </a:prstGeom>
          <a:noFill/>
          <a:ln/>
        </p:spPr>
        <p:txBody>
          <a:bodyPr wrap="square" lIns="0" tIns="0" rIns="0" bIns="0" rtlCol="0" anchor="t"/>
          <a:lstStyle/>
          <a:p>
            <a:pPr marL="0" indent="0">
              <a:buNone/>
            </a:pPr>
            <a:r>
              <a:rPr lang="en-US" sz="2800" b="1" dirty="0">
                <a:solidFill>
                  <a:schemeClr val="accent3"/>
                </a:solidFill>
                <a:latin typeface="Cambria" pitchFamily="34" charset="0"/>
                <a:ea typeface="Cambria" pitchFamily="34" charset="-122"/>
                <a:cs typeface="Cambria" pitchFamily="34" charset="-120"/>
              </a:rPr>
              <a:t>138 of 277 km²</a:t>
            </a:r>
            <a:endParaRPr lang="en-US" sz="2800" dirty="0"/>
          </a:p>
        </p:txBody>
      </p:sp>
      <p:sp>
        <p:nvSpPr>
          <p:cNvPr id="10" name="Text 6"/>
          <p:cNvSpPr txBox="1"/>
          <p:nvPr/>
        </p:nvSpPr>
        <p:spPr>
          <a:xfrm>
            <a:off x="8092440" y="4526280"/>
            <a:ext cx="3291840" cy="1463040"/>
          </a:xfrm>
          <a:prstGeom prst="rect">
            <a:avLst/>
          </a:prstGeom>
          <a:noFill/>
          <a:ln/>
        </p:spPr>
        <p:txBody>
          <a:bodyPr wrap="square" lIns="0" tIns="0" rIns="0" bIns="0" rtlCol="0" anchor="t"/>
          <a:lstStyle/>
          <a:p>
            <a:pPr marL="0" indent="0">
              <a:buNone/>
            </a:pPr>
            <a:r>
              <a:rPr lang="en-US" sz="1400" dirty="0">
                <a:solidFill>
                  <a:schemeClr val="tx1"/>
                </a:solidFill>
              </a:rPr>
              <a:t>of the city area lies in cells that gained at least 100 m², so growth is widespread, but only 3.6 km² gained 5,000 m² or more per cell</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Where is non-residential surface concentrated?</a:t>
            </a:r>
            <a:endParaRPr lang="en-US" sz="3200" dirty="0"/>
          </a:p>
        </p:txBody>
      </p:sp>
      <p:pic>
        <p:nvPicPr>
          <p:cNvPr id="4" name="Image 0" descr="Non-residential share of built-up surface in 2000 and 2020, Lucknow district"/>
          <p:cNvPicPr>
            <a:picLocks noChangeAspect="1"/>
          </p:cNvPicPr>
          <p:nvPr/>
        </p:nvPicPr>
        <p:blipFill>
          <a:blip r:embed="rId3"/>
          <a:stretch>
            <a:fillRect/>
          </a:stretch>
        </p:blipFill>
        <p:spPr>
          <a:xfrm>
            <a:off x="548640" y="1280160"/>
            <a:ext cx="7731629" cy="4846320"/>
          </a:xfrm>
          <a:prstGeom prst="rect">
            <a:avLst/>
          </a:prstGeom>
        </p:spPr>
      </p:pic>
      <p:sp>
        <p:nvSpPr>
          <p:cNvPr id="5" name="nresNote"/>
          <p:cNvSpPr/>
          <p:nvPr/>
        </p:nvSpPr>
        <p:spPr>
          <a:xfrm>
            <a:off x="8412480" y="1325880"/>
            <a:ext cx="3200400" cy="4754880"/>
          </a:xfrm>
          <a:prstGeom prst="roundRect">
            <a:avLst>
              <a:gd name="adj" fmla="val 228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6" name="Text 2"/>
          <p:cNvSpPr txBox="1"/>
          <p:nvPr/>
        </p:nvSpPr>
        <p:spPr>
          <a:xfrm>
            <a:off x="8641080" y="1463040"/>
            <a:ext cx="2743200" cy="365760"/>
          </a:xfrm>
          <a:prstGeom prst="rect">
            <a:avLst/>
          </a:prstGeom>
          <a:noFill/>
          <a:ln/>
        </p:spPr>
        <p:txBody>
          <a:bodyPr wrap="square" lIns="0" tIns="0" rIns="0" bIns="0" rtlCol="0" anchor="t"/>
          <a:lstStyle/>
          <a:p>
            <a:pPr marL="0" indent="0">
              <a:buNone/>
            </a:pPr>
            <a:r>
              <a:rPr lang="en-US" sz="1600" b="1" dirty="0">
                <a:solidFill>
                  <a:schemeClr val="accent5"/>
                </a:solidFill>
              </a:rPr>
              <a:t>District view</a:t>
            </a:r>
            <a:endParaRPr lang="en-US" sz="1600" dirty="0"/>
          </a:p>
        </p:txBody>
      </p:sp>
      <p:sp>
        <p:nvSpPr>
          <p:cNvPr id="7" name="Text 3"/>
          <p:cNvSpPr txBox="1"/>
          <p:nvPr/>
        </p:nvSpPr>
        <p:spPr>
          <a:xfrm>
            <a:off x="8641080" y="1920240"/>
            <a:ext cx="2743200" cy="402336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Cells with at least 1,000 m² built-up</a:t>
            </a:r>
            <a:endParaRPr lang="en-US" sz="1500" dirty="0"/>
          </a:p>
          <a:p>
            <a:pPr marL="177800" indent="-177800">
              <a:spcAft>
                <a:spcPts val="800"/>
              </a:spcAft>
              <a:buSzPct val="100000"/>
              <a:buChar char="•"/>
            </a:pPr>
            <a:r>
              <a:rPr lang="en-US" sz="1500" dirty="0">
                <a:solidFill>
                  <a:schemeClr val="tx1"/>
                </a:solidFill>
              </a:rPr>
              <a:t>Dark green = mostly non-residential</a:t>
            </a:r>
            <a:endParaRPr lang="en-US" sz="1500" dirty="0"/>
          </a:p>
          <a:p>
            <a:pPr marL="177800" indent="-177800">
              <a:spcAft>
                <a:spcPts val="800"/>
              </a:spcAft>
              <a:buSzPct val="100000"/>
              <a:buChar char="•"/>
            </a:pPr>
            <a:r>
              <a:rPr lang="en-US" sz="1500" dirty="0">
                <a:solidFill>
                  <a:schemeClr val="tx1"/>
                </a:solidFill>
              </a:rPr>
              <a:t>Small clusters near the centre, few outliers</a:t>
            </a:r>
            <a:endParaRPr lang="en-US" sz="1500" dirty="0"/>
          </a:p>
          <a:p>
            <a:pPr marL="177800" indent="-177800">
              <a:spcAft>
                <a:spcPts val="800"/>
              </a:spcAft>
              <a:buSzPct val="100000"/>
              <a:buChar char="•"/>
            </a:pPr>
            <a:r>
              <a:rPr lang="en-US" sz="1500" dirty="0">
                <a:solidFill>
                  <a:schemeClr val="tx1"/>
                </a:solidFill>
              </a:rPr>
              <a:t>Pattern changes little, 2000 to 2020</a:t>
            </a:r>
            <a:endParaRPr lang="en-US" sz="1500" dirty="0"/>
          </a:p>
          <a:p>
            <a:pPr marL="177800" indent="-177800">
              <a:spcAft>
                <a:spcPts val="800"/>
              </a:spcAft>
              <a:buSzPct val="100000"/>
              <a:buChar char="•"/>
            </a:pPr>
            <a:r>
              <a:rPr lang="en-US" sz="1500" dirty="0">
                <a:solidFill>
                  <a:schemeClr val="tx1"/>
                </a:solidFill>
              </a:rPr>
              <a:t>District share: 2.72% → 1.92%</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Growth is moving beyond the city limits</a:t>
            </a:r>
            <a:endParaRPr lang="en-US" sz="3200" dirty="0"/>
          </a:p>
        </p:txBody>
      </p:sp>
      <p:graphicFrame>
        <p:nvGraphicFramePr>
          <p:cNvPr id="4" name="Chart 0"/>
          <p:cNvGraphicFramePr/>
          <p:nvPr/>
        </p:nvGraphicFramePr>
        <p:xfrm>
          <a:off x="548640" y="1280160"/>
          <a:ext cx="676656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5" name="periStat1"/>
          <p:cNvSpPr/>
          <p:nvPr/>
        </p:nvSpPr>
        <p:spPr>
          <a:xfrm>
            <a:off x="7680960" y="1325880"/>
            <a:ext cx="3931920" cy="1645920"/>
          </a:xfrm>
          <a:prstGeom prst="roundRect">
            <a:avLst>
              <a:gd name="adj" fmla="val 444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6" name="Text 2"/>
          <p:cNvSpPr txBox="1"/>
          <p:nvPr/>
        </p:nvSpPr>
        <p:spPr>
          <a:xfrm>
            <a:off x="7909560" y="1463040"/>
            <a:ext cx="3474720" cy="640080"/>
          </a:xfrm>
          <a:prstGeom prst="rect">
            <a:avLst/>
          </a:prstGeom>
          <a:noFill/>
          <a:ln/>
        </p:spPr>
        <p:txBody>
          <a:bodyPr wrap="square" lIns="0" tIns="0" rIns="0" bIns="0" rtlCol="0" anchor="t"/>
          <a:lstStyle/>
          <a:p>
            <a:pPr marL="0" indent="0">
              <a:buNone/>
            </a:pPr>
            <a:r>
              <a:rPr lang="en-US" sz="2800" b="1" dirty="0">
                <a:solidFill>
                  <a:schemeClr val="accent5"/>
                </a:solidFill>
                <a:latin typeface="Cambria" pitchFamily="34" charset="0"/>
                <a:ea typeface="Cambria" pitchFamily="34" charset="-122"/>
                <a:cs typeface="Cambria" pitchFamily="34" charset="-120"/>
              </a:rPr>
              <a:t>74% → 51%</a:t>
            </a:r>
            <a:endParaRPr lang="en-US" sz="2800" dirty="0"/>
          </a:p>
        </p:txBody>
      </p:sp>
      <p:sp>
        <p:nvSpPr>
          <p:cNvPr id="7" name="Text 3"/>
          <p:cNvSpPr txBox="1"/>
          <p:nvPr/>
        </p:nvSpPr>
        <p:spPr>
          <a:xfrm>
            <a:off x="7909560" y="2148840"/>
            <a:ext cx="3474720" cy="731520"/>
          </a:xfrm>
          <a:prstGeom prst="rect">
            <a:avLst/>
          </a:prstGeom>
          <a:noFill/>
          <a:ln/>
        </p:spPr>
        <p:txBody>
          <a:bodyPr wrap="square" lIns="0" tIns="0" rIns="0" bIns="0" rtlCol="0" anchor="t"/>
          <a:lstStyle/>
          <a:p>
            <a:pPr marL="0" indent="0">
              <a:buNone/>
            </a:pPr>
            <a:r>
              <a:rPr lang="en-US" sz="1400" dirty="0">
                <a:solidFill>
                  <a:schemeClr val="tx1"/>
                </a:solidFill>
              </a:rPr>
              <a:t>City share of district built-up surface, 2000 → 2020</a:t>
            </a:r>
            <a:endParaRPr lang="en-US" sz="1400" dirty="0"/>
          </a:p>
        </p:txBody>
      </p:sp>
      <p:sp>
        <p:nvSpPr>
          <p:cNvPr id="8" name="periStat2"/>
          <p:cNvSpPr/>
          <p:nvPr/>
        </p:nvSpPr>
        <p:spPr>
          <a:xfrm>
            <a:off x="7680960" y="3154680"/>
            <a:ext cx="3931920" cy="1645920"/>
          </a:xfrm>
          <a:prstGeom prst="roundRect">
            <a:avLst>
              <a:gd name="adj" fmla="val 444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9" name="Text 5"/>
          <p:cNvSpPr txBox="1"/>
          <p:nvPr/>
        </p:nvSpPr>
        <p:spPr>
          <a:xfrm>
            <a:off x="7909560" y="3291840"/>
            <a:ext cx="3474720" cy="640080"/>
          </a:xfrm>
          <a:prstGeom prst="rect">
            <a:avLst/>
          </a:prstGeom>
          <a:noFill/>
          <a:ln/>
        </p:spPr>
        <p:txBody>
          <a:bodyPr wrap="square" lIns="0" tIns="0" rIns="0" bIns="0" rtlCol="0" anchor="t"/>
          <a:lstStyle/>
          <a:p>
            <a:pPr marL="0" indent="0">
              <a:buNone/>
            </a:pPr>
            <a:r>
              <a:rPr lang="en-US" sz="2800" b="1" dirty="0">
                <a:solidFill>
                  <a:schemeClr val="accent5"/>
                </a:solidFill>
                <a:latin typeface="Cambria" pitchFamily="34" charset="0"/>
                <a:ea typeface="Cambria" pitchFamily="34" charset="-122"/>
                <a:cs typeface="Cambria" pitchFamily="34" charset="-120"/>
              </a:rPr>
              <a:t>29%</a:t>
            </a:r>
            <a:endParaRPr lang="en-US" sz="2800" dirty="0"/>
          </a:p>
        </p:txBody>
      </p:sp>
      <p:sp>
        <p:nvSpPr>
          <p:cNvPr id="10" name="Text 6"/>
          <p:cNvSpPr txBox="1"/>
          <p:nvPr/>
        </p:nvSpPr>
        <p:spPr>
          <a:xfrm>
            <a:off x="7909560" y="3977640"/>
            <a:ext cx="3474720" cy="731520"/>
          </a:xfrm>
          <a:prstGeom prst="rect">
            <a:avLst/>
          </a:prstGeom>
          <a:noFill/>
          <a:ln/>
        </p:spPr>
        <p:txBody>
          <a:bodyPr wrap="square" lIns="0" tIns="0" rIns="0" bIns="0" rtlCol="0" anchor="t"/>
          <a:lstStyle/>
          <a:p>
            <a:pPr marL="0" indent="0">
              <a:buNone/>
            </a:pPr>
            <a:r>
              <a:rPr lang="en-US" sz="1400" dirty="0">
                <a:solidFill>
                  <a:schemeClr val="tx1"/>
                </a:solidFill>
              </a:rPr>
              <a:t>of the district gain (+22.7 of +77.4 km²) fell inside the city</a:t>
            </a:r>
            <a:endParaRPr lang="en-US" sz="1400" dirty="0"/>
          </a:p>
        </p:txBody>
      </p:sp>
      <p:sp>
        <p:nvSpPr>
          <p:cNvPr id="11" name="Text 7"/>
          <p:cNvSpPr txBox="1"/>
          <p:nvPr/>
        </p:nvSpPr>
        <p:spPr>
          <a:xfrm>
            <a:off x="7680960" y="5074920"/>
            <a:ext cx="3931920" cy="1005840"/>
          </a:xfrm>
          <a:prstGeom prst="rect">
            <a:avLst/>
          </a:prstGeom>
          <a:noFill/>
          <a:ln/>
        </p:spPr>
        <p:txBody>
          <a:bodyPr wrap="square" lIns="0" tIns="0" rIns="0" bIns="0" rtlCol="0" anchor="t"/>
          <a:lstStyle/>
          <a:p>
            <a:pPr marL="0" indent="0">
              <a:buNone/>
            </a:pPr>
            <a:r>
              <a:rPr lang="en-US" sz="1300" dirty="0">
                <a:solidFill>
                  <a:schemeClr val="accent6"/>
                </a:solidFill>
              </a:rPr>
              <a:t>Outside-city values are district minus city and approximate: the two boundaries come from different sources.</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Discussion</a:t>
            </a:r>
            <a:endParaRPr lang="en-US" sz="3200" dirty="0"/>
          </a:p>
        </p:txBody>
      </p:sp>
      <p:sp>
        <p:nvSpPr>
          <p:cNvPr id="4" name="disc1"/>
          <p:cNvSpPr/>
          <p:nvPr/>
        </p:nvSpPr>
        <p:spPr>
          <a:xfrm>
            <a:off x="548640" y="1325880"/>
            <a:ext cx="3566160" cy="4754880"/>
          </a:xfrm>
          <a:prstGeom prst="roundRect">
            <a:avLst>
              <a:gd name="adj" fmla="val 205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5" name="discNum1"/>
          <p:cNvSpPr/>
          <p:nvPr/>
        </p:nvSpPr>
        <p:spPr>
          <a:xfrm>
            <a:off x="777240" y="150876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777240" y="15087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4"/>
          <p:cNvSpPr txBox="1"/>
          <p:nvPr/>
        </p:nvSpPr>
        <p:spPr>
          <a:xfrm>
            <a:off x="1371600" y="1508760"/>
            <a:ext cx="2560320"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Spatial pattern</a:t>
            </a:r>
            <a:endParaRPr lang="en-US" sz="1800" dirty="0"/>
          </a:p>
        </p:txBody>
      </p:sp>
      <p:sp>
        <p:nvSpPr>
          <p:cNvPr id="8" name="Text 5"/>
          <p:cNvSpPr txBox="1"/>
          <p:nvPr/>
        </p:nvSpPr>
        <p:spPr>
          <a:xfrm>
            <a:off x="777240" y="2194560"/>
            <a:ext cx="3108960" cy="2834640"/>
          </a:xfrm>
          <a:prstGeom prst="rect">
            <a:avLst/>
          </a:prstGeom>
          <a:noFill/>
          <a:ln/>
        </p:spPr>
        <p:txBody>
          <a:bodyPr wrap="square" lIns="0" tIns="0" rIns="0" bIns="0" rtlCol="0" anchor="t"/>
          <a:lstStyle/>
          <a:p>
            <a:pPr marL="0" indent="0">
              <a:buNone/>
            </a:pPr>
            <a:r>
              <a:rPr lang="en-US" sz="1500" dirty="0">
                <a:solidFill>
                  <a:schemeClr val="tx1"/>
                </a:solidFill>
              </a:rPr>
              <a:t>Gains are widespread: about half of the city area gained at least 100 m² per cell. The strongest gains are in the north-central and eastern city and along the edge of the dense core. The core was already built in 2000, so growth is infill plus edge expansion.</a:t>
            </a:r>
            <a:endParaRPr lang="en-US" sz="1500" dirty="0"/>
          </a:p>
        </p:txBody>
      </p:sp>
      <p:sp>
        <p:nvSpPr>
          <p:cNvPr id="9" name="Text 6"/>
          <p:cNvSpPr txBox="1"/>
          <p:nvPr/>
        </p:nvSpPr>
        <p:spPr>
          <a:xfrm>
            <a:off x="777240" y="5074920"/>
            <a:ext cx="3108960" cy="868680"/>
          </a:xfrm>
          <a:prstGeom prst="rect">
            <a:avLst/>
          </a:prstGeom>
          <a:noFill/>
          <a:ln/>
        </p:spPr>
        <p:txBody>
          <a:bodyPr wrap="square" lIns="0" tIns="0" rIns="0" bIns="0" rtlCol="0" anchor="b"/>
          <a:lstStyle/>
          <a:p>
            <a:pPr marL="0" indent="0">
              <a:buNone/>
            </a:pPr>
            <a:r>
              <a:rPr lang="en-US" sz="1500" b="1" dirty="0">
                <a:solidFill>
                  <a:schemeClr val="accent1"/>
                </a:solidFill>
              </a:rPr>
              <a:t>138 of 277 km² gained at least 100 m² per cell</a:t>
            </a:r>
            <a:endParaRPr lang="en-US" sz="1500" dirty="0"/>
          </a:p>
        </p:txBody>
      </p:sp>
      <p:sp>
        <p:nvSpPr>
          <p:cNvPr id="10" name="disc2"/>
          <p:cNvSpPr/>
          <p:nvPr/>
        </p:nvSpPr>
        <p:spPr>
          <a:xfrm>
            <a:off x="4389120" y="1325880"/>
            <a:ext cx="3566160" cy="4754880"/>
          </a:xfrm>
          <a:prstGeom prst="roundRect">
            <a:avLst>
              <a:gd name="adj" fmla="val 205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1" name="discNum2"/>
          <p:cNvSpPr/>
          <p:nvPr/>
        </p:nvSpPr>
        <p:spPr>
          <a:xfrm>
            <a:off x="4617720" y="1508760"/>
            <a:ext cx="457200" cy="457200"/>
          </a:xfrm>
          <a:prstGeom prst="ellipse">
            <a:avLst/>
          </a:prstGeom>
          <a:solidFill>
            <a:schemeClr val="accent3"/>
          </a:solidFill>
          <a:ln w="12700">
            <a:solidFill>
              <a:schemeClr val="accent3"/>
            </a:solidFill>
            <a:prstDash val="solid"/>
          </a:ln>
        </p:spPr>
      </p:sp>
      <p:sp>
        <p:nvSpPr>
          <p:cNvPr id="12" name="Text 9"/>
          <p:cNvSpPr txBox="1"/>
          <p:nvPr/>
        </p:nvSpPr>
        <p:spPr>
          <a:xfrm>
            <a:off x="4617720" y="15087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0"/>
          <p:cNvSpPr txBox="1"/>
          <p:nvPr/>
        </p:nvSpPr>
        <p:spPr>
          <a:xfrm>
            <a:off x="5212080" y="1508760"/>
            <a:ext cx="2560320"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Temporal change</a:t>
            </a:r>
            <a:endParaRPr lang="en-US" sz="1800" dirty="0"/>
          </a:p>
        </p:txBody>
      </p:sp>
      <p:sp>
        <p:nvSpPr>
          <p:cNvPr id="14" name="Text 11"/>
          <p:cNvSpPr txBox="1"/>
          <p:nvPr/>
        </p:nvSpPr>
        <p:spPr>
          <a:xfrm>
            <a:off x="4617720" y="2194560"/>
            <a:ext cx="3108960" cy="2834640"/>
          </a:xfrm>
          <a:prstGeom prst="rect">
            <a:avLst/>
          </a:prstGeom>
          <a:noFill/>
          <a:ln/>
        </p:spPr>
        <p:txBody>
          <a:bodyPr wrap="square" lIns="0" tIns="0" rIns="0" bIns="0" rtlCol="0" anchor="t"/>
          <a:lstStyle/>
          <a:p>
            <a:pPr marL="0" indent="0">
              <a:buNone/>
            </a:pPr>
            <a:r>
              <a:rPr lang="en-US" sz="1500" dirty="0">
                <a:solidFill>
                  <a:schemeClr val="tx1"/>
                </a:solidFill>
              </a:rPr>
              <a:t>Municipal built-up surface grew 55.4 → 78.1 km² (+40.9%, 1.73% per year), peaking in 2010–15 (+6.7 km²) and slowing in 2015–20 (+4.3 km²). The district added 36.8 km² in 2015–20, its largest interval, so growth moved to the periphery.</a:t>
            </a:r>
            <a:endParaRPr lang="en-US" sz="1500" dirty="0"/>
          </a:p>
        </p:txBody>
      </p:sp>
      <p:sp>
        <p:nvSpPr>
          <p:cNvPr id="15" name="Text 12"/>
          <p:cNvSpPr txBox="1"/>
          <p:nvPr/>
        </p:nvSpPr>
        <p:spPr>
          <a:xfrm>
            <a:off x="4617720" y="5074920"/>
            <a:ext cx="3108960" cy="868680"/>
          </a:xfrm>
          <a:prstGeom prst="rect">
            <a:avLst/>
          </a:prstGeom>
          <a:noFill/>
          <a:ln/>
        </p:spPr>
        <p:txBody>
          <a:bodyPr wrap="square" lIns="0" tIns="0" rIns="0" bIns="0" rtlCol="0" anchor="b"/>
          <a:lstStyle/>
          <a:p>
            <a:pPr marL="0" indent="0">
              <a:buNone/>
            </a:pPr>
            <a:r>
              <a:rPr lang="en-US" sz="1500" b="1" dirty="0">
                <a:solidFill>
                  <a:schemeClr val="accent3"/>
                </a:solidFill>
              </a:rPr>
              <a:t>2015–20: +4.3 km² in the city, +36.8 km² in the district</a:t>
            </a:r>
            <a:endParaRPr lang="en-US" sz="1500" dirty="0"/>
          </a:p>
        </p:txBody>
      </p:sp>
      <p:sp>
        <p:nvSpPr>
          <p:cNvPr id="16" name="disc3"/>
          <p:cNvSpPr/>
          <p:nvPr/>
        </p:nvSpPr>
        <p:spPr>
          <a:xfrm>
            <a:off x="8229600" y="1325880"/>
            <a:ext cx="3566160" cy="4754880"/>
          </a:xfrm>
          <a:prstGeom prst="roundRect">
            <a:avLst>
              <a:gd name="adj" fmla="val 205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7" name="discNum3"/>
          <p:cNvSpPr/>
          <p:nvPr/>
        </p:nvSpPr>
        <p:spPr>
          <a:xfrm>
            <a:off x="8458200" y="1508760"/>
            <a:ext cx="457200" cy="457200"/>
          </a:xfrm>
          <a:prstGeom prst="ellipse">
            <a:avLst/>
          </a:prstGeom>
          <a:solidFill>
            <a:schemeClr val="accent2"/>
          </a:solidFill>
          <a:ln w="12700">
            <a:solidFill>
              <a:schemeClr val="accent2"/>
            </a:solidFill>
            <a:prstDash val="solid"/>
          </a:ln>
        </p:spPr>
      </p:sp>
      <p:sp>
        <p:nvSpPr>
          <p:cNvPr id="18" name="Text 15"/>
          <p:cNvSpPr txBox="1"/>
          <p:nvPr/>
        </p:nvSpPr>
        <p:spPr>
          <a:xfrm>
            <a:off x="8458200" y="15087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9" name="Text 16"/>
          <p:cNvSpPr txBox="1"/>
          <p:nvPr/>
        </p:nvSpPr>
        <p:spPr>
          <a:xfrm>
            <a:off x="9052560" y="1508760"/>
            <a:ext cx="2560320"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Total vs non-residential</a:t>
            </a:r>
            <a:endParaRPr lang="en-US" sz="1800" dirty="0"/>
          </a:p>
        </p:txBody>
      </p:sp>
      <p:sp>
        <p:nvSpPr>
          <p:cNvPr id="20" name="Text 17"/>
          <p:cNvSpPr txBox="1"/>
          <p:nvPr/>
        </p:nvSpPr>
        <p:spPr>
          <a:xfrm>
            <a:off x="8458200" y="2194560"/>
            <a:ext cx="3108960" cy="2834640"/>
          </a:xfrm>
          <a:prstGeom prst="rect">
            <a:avLst/>
          </a:prstGeom>
          <a:noFill/>
          <a:ln/>
        </p:spPr>
        <p:txBody>
          <a:bodyPr wrap="square" lIns="0" tIns="0" rIns="0" bIns="0" rtlCol="0" anchor="t"/>
          <a:lstStyle/>
          <a:p>
            <a:pPr marL="0" indent="0">
              <a:buNone/>
            </a:pPr>
            <a:r>
              <a:rPr lang="en-US" sz="1500" dirty="0">
                <a:solidFill>
                  <a:schemeClr val="tx1"/>
                </a:solidFill>
              </a:rPr>
              <a:t>Non-residential grew +34.4% against +40.9% for total, so its share slipped from 3.46% to 3.30%. It supplied only 2.9% of new built-up surface; mean gain per cell was 24 m² against 813 m². Growth is overwhelmingly residential or other use.</a:t>
            </a:r>
            <a:endParaRPr lang="en-US" sz="1500" dirty="0"/>
          </a:p>
        </p:txBody>
      </p:sp>
      <p:sp>
        <p:nvSpPr>
          <p:cNvPr id="21" name="Text 18"/>
          <p:cNvSpPr txBox="1"/>
          <p:nvPr/>
        </p:nvSpPr>
        <p:spPr>
          <a:xfrm>
            <a:off x="8458200" y="5074920"/>
            <a:ext cx="3108960" cy="868680"/>
          </a:xfrm>
          <a:prstGeom prst="rect">
            <a:avLst/>
          </a:prstGeom>
          <a:noFill/>
          <a:ln/>
        </p:spPr>
        <p:txBody>
          <a:bodyPr wrap="square" lIns="0" tIns="0" rIns="0" bIns="0" rtlCol="0" anchor="b"/>
          <a:lstStyle/>
          <a:p>
            <a:pPr marL="0" indent="0">
              <a:buNone/>
            </a:pPr>
            <a:r>
              <a:rPr lang="en-US" sz="1500" b="1" dirty="0">
                <a:solidFill>
                  <a:schemeClr val="accent2"/>
                </a:solidFill>
              </a:rPr>
              <a:t>Mean gain per cell: 813 m² total vs 24 m² non-residential</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tx1"/>
                </a:solidFill>
              </a:rPr>
              <a:t>Limitations</a:t>
            </a:r>
            <a:endParaRPr lang="en-US" sz="3200" dirty="0"/>
          </a:p>
        </p:txBody>
      </p:sp>
      <p:sp>
        <p:nvSpPr>
          <p:cNvPr id="4" name="lim1"/>
          <p:cNvSpPr/>
          <p:nvPr/>
        </p:nvSpPr>
        <p:spPr>
          <a:xfrm>
            <a:off x="548640" y="1325880"/>
            <a:ext cx="3566160" cy="2286000"/>
          </a:xfrm>
          <a:prstGeom prst="roundRect">
            <a:avLst>
              <a:gd name="adj" fmla="val 32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5" name="Text 2"/>
          <p:cNvSpPr txBox="1"/>
          <p:nvPr/>
        </p:nvSpPr>
        <p:spPr>
          <a:xfrm>
            <a:off x="777240" y="1463040"/>
            <a:ext cx="3108960" cy="411480"/>
          </a:xfrm>
          <a:prstGeom prst="rect">
            <a:avLst/>
          </a:prstGeom>
          <a:noFill/>
          <a:ln/>
        </p:spPr>
        <p:txBody>
          <a:bodyPr wrap="square" lIns="0" tIns="0" rIns="0" bIns="0" rtlCol="0" anchor="t"/>
          <a:lstStyle/>
          <a:p>
            <a:pPr marL="0" indent="0">
              <a:buNone/>
            </a:pPr>
            <a:r>
              <a:rPr lang="en-US" sz="1800" b="1" dirty="0">
                <a:solidFill>
                  <a:schemeClr val="accent1"/>
                </a:solidFill>
              </a:rPr>
              <a:t>Spatial resolution</a:t>
            </a:r>
            <a:endParaRPr lang="en-US" sz="1800" dirty="0"/>
          </a:p>
        </p:txBody>
      </p:sp>
      <p:sp>
        <p:nvSpPr>
          <p:cNvPr id="6" name="Text 3"/>
          <p:cNvSpPr txBox="1"/>
          <p:nvPr/>
        </p:nvSpPr>
        <p:spPr>
          <a:xfrm>
            <a:off x="777240" y="1965960"/>
            <a:ext cx="3108960" cy="1554480"/>
          </a:xfrm>
          <a:prstGeom prst="rect">
            <a:avLst/>
          </a:prstGeom>
          <a:noFill/>
          <a:ln/>
        </p:spPr>
        <p:txBody>
          <a:bodyPr wrap="square" lIns="0" tIns="0" rIns="0" bIns="0" rtlCol="0" anchor="t"/>
          <a:lstStyle/>
          <a:p>
            <a:pPr marL="0" indent="0">
              <a:buNone/>
            </a:pPr>
            <a:r>
              <a:rPr lang="en-US" sz="1500" dirty="0">
                <a:solidFill>
                  <a:schemeClr val="tx1"/>
                </a:solidFill>
              </a:rPr>
              <a:t>100 m cells (1 ha). Small buildings and mixed use are not resolved; boundary cells are counted by their centre.</a:t>
            </a:r>
            <a:endParaRPr lang="en-US" sz="1500" dirty="0"/>
          </a:p>
        </p:txBody>
      </p:sp>
      <p:sp>
        <p:nvSpPr>
          <p:cNvPr id="7" name="lim2"/>
          <p:cNvSpPr/>
          <p:nvPr/>
        </p:nvSpPr>
        <p:spPr>
          <a:xfrm>
            <a:off x="4389120" y="1325880"/>
            <a:ext cx="3566160" cy="2286000"/>
          </a:xfrm>
          <a:prstGeom prst="roundRect">
            <a:avLst>
              <a:gd name="adj" fmla="val 32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8" name="Text 5"/>
          <p:cNvSpPr txBox="1"/>
          <p:nvPr/>
        </p:nvSpPr>
        <p:spPr>
          <a:xfrm>
            <a:off x="4617720" y="1463040"/>
            <a:ext cx="3108960" cy="411480"/>
          </a:xfrm>
          <a:prstGeom prst="rect">
            <a:avLst/>
          </a:prstGeom>
          <a:noFill/>
          <a:ln/>
        </p:spPr>
        <p:txBody>
          <a:bodyPr wrap="square" lIns="0" tIns="0" rIns="0" bIns="0" rtlCol="0" anchor="t"/>
          <a:lstStyle/>
          <a:p>
            <a:pPr marL="0" indent="0">
              <a:buNone/>
            </a:pPr>
            <a:r>
              <a:rPr lang="en-US" sz="1800" b="1" dirty="0">
                <a:solidFill>
                  <a:schemeClr val="accent1"/>
                </a:solidFill>
              </a:rPr>
              <a:t>Temporal resolution</a:t>
            </a:r>
            <a:endParaRPr lang="en-US" sz="1800" dirty="0"/>
          </a:p>
        </p:txBody>
      </p:sp>
      <p:sp>
        <p:nvSpPr>
          <p:cNvPr id="9" name="Text 6"/>
          <p:cNvSpPr txBox="1"/>
          <p:nvPr/>
        </p:nvSpPr>
        <p:spPr>
          <a:xfrm>
            <a:off x="4617720" y="1965960"/>
            <a:ext cx="3108960" cy="1554480"/>
          </a:xfrm>
          <a:prstGeom prst="rect">
            <a:avLst/>
          </a:prstGeom>
          <a:noFill/>
          <a:ln/>
        </p:spPr>
        <p:txBody>
          <a:bodyPr wrap="square" lIns="0" tIns="0" rIns="0" bIns="0" rtlCol="0" anchor="t"/>
          <a:lstStyle/>
          <a:p>
            <a:pPr marL="0" indent="0">
              <a:buNone/>
            </a:pPr>
            <a:r>
              <a:rPr lang="en-US" sz="1500" dirty="0">
                <a:solidFill>
                  <a:schemeClr val="tx1"/>
                </a:solidFill>
              </a:rPr>
              <a:t>Only 5-year epochs. Yearly frames in the animation are interpolated and illustrative.</a:t>
            </a:r>
            <a:endParaRPr lang="en-US" sz="1500" dirty="0"/>
          </a:p>
        </p:txBody>
      </p:sp>
      <p:sp>
        <p:nvSpPr>
          <p:cNvPr id="10" name="lim3"/>
          <p:cNvSpPr/>
          <p:nvPr/>
        </p:nvSpPr>
        <p:spPr>
          <a:xfrm>
            <a:off x="8229600" y="1325880"/>
            <a:ext cx="3566160" cy="2286000"/>
          </a:xfrm>
          <a:prstGeom prst="roundRect">
            <a:avLst>
              <a:gd name="adj" fmla="val 32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1" name="Text 8"/>
          <p:cNvSpPr txBox="1"/>
          <p:nvPr/>
        </p:nvSpPr>
        <p:spPr>
          <a:xfrm>
            <a:off x="8458200" y="1463040"/>
            <a:ext cx="3108960" cy="411480"/>
          </a:xfrm>
          <a:prstGeom prst="rect">
            <a:avLst/>
          </a:prstGeom>
          <a:noFill/>
          <a:ln/>
        </p:spPr>
        <p:txBody>
          <a:bodyPr wrap="square" lIns="0" tIns="0" rIns="0" bIns="0" rtlCol="0" anchor="t"/>
          <a:lstStyle/>
          <a:p>
            <a:pPr marL="0" indent="0">
              <a:buNone/>
            </a:pPr>
            <a:r>
              <a:rPr lang="en-US" sz="1800" b="1" dirty="0">
                <a:solidFill>
                  <a:schemeClr val="accent1"/>
                </a:solidFill>
              </a:rPr>
              <a:t>Modelled data</a:t>
            </a:r>
            <a:endParaRPr lang="en-US" sz="1800" dirty="0"/>
          </a:p>
        </p:txBody>
      </p:sp>
      <p:sp>
        <p:nvSpPr>
          <p:cNvPr id="12" name="Text 9"/>
          <p:cNvSpPr txBox="1"/>
          <p:nvPr/>
        </p:nvSpPr>
        <p:spPr>
          <a:xfrm>
            <a:off x="8458200" y="1965960"/>
            <a:ext cx="3108960" cy="1554480"/>
          </a:xfrm>
          <a:prstGeom prst="rect">
            <a:avLst/>
          </a:prstGeom>
          <a:noFill/>
          <a:ln/>
        </p:spPr>
        <p:txBody>
          <a:bodyPr wrap="square" lIns="0" tIns="0" rIns="0" bIns="0" rtlCol="0" anchor="t"/>
          <a:lstStyle/>
          <a:p>
            <a:pPr marL="0" indent="0">
              <a:buNone/>
            </a:pPr>
            <a:r>
              <a:rPr lang="en-US" sz="1500" dirty="0">
                <a:solidFill>
                  <a:schemeClr val="tx1"/>
                </a:solidFill>
              </a:rPr>
              <a:t>GHSL is estimated from satellite imagery. Some change may be a data effect. Zero loss means demolition is not captured.</a:t>
            </a:r>
            <a:endParaRPr lang="en-US" sz="1500" dirty="0"/>
          </a:p>
        </p:txBody>
      </p:sp>
      <p:sp>
        <p:nvSpPr>
          <p:cNvPr id="13" name="lim4"/>
          <p:cNvSpPr/>
          <p:nvPr/>
        </p:nvSpPr>
        <p:spPr>
          <a:xfrm>
            <a:off x="548640" y="3794760"/>
            <a:ext cx="3566160" cy="2286000"/>
          </a:xfrm>
          <a:prstGeom prst="roundRect">
            <a:avLst>
              <a:gd name="adj" fmla="val 32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4" name="Text 11"/>
          <p:cNvSpPr txBox="1"/>
          <p:nvPr/>
        </p:nvSpPr>
        <p:spPr>
          <a:xfrm>
            <a:off x="777240" y="3931920"/>
            <a:ext cx="3108960" cy="411480"/>
          </a:xfrm>
          <a:prstGeom prst="rect">
            <a:avLst/>
          </a:prstGeom>
          <a:noFill/>
          <a:ln/>
        </p:spPr>
        <p:txBody>
          <a:bodyPr wrap="square" lIns="0" tIns="0" rIns="0" bIns="0" rtlCol="0" anchor="t"/>
          <a:lstStyle/>
          <a:p>
            <a:pPr marL="0" indent="0">
              <a:buNone/>
            </a:pPr>
            <a:r>
              <a:rPr lang="en-US" sz="1800" b="1" dirty="0">
                <a:solidFill>
                  <a:schemeClr val="accent1"/>
                </a:solidFill>
              </a:rPr>
              <a:t>Non-residential class</a:t>
            </a:r>
            <a:endParaRPr lang="en-US" sz="1800" dirty="0"/>
          </a:p>
        </p:txBody>
      </p:sp>
      <p:sp>
        <p:nvSpPr>
          <p:cNvPr id="15" name="Text 12"/>
          <p:cNvSpPr txBox="1"/>
          <p:nvPr/>
        </p:nvSpPr>
        <p:spPr>
          <a:xfrm>
            <a:off x="777240" y="4434840"/>
            <a:ext cx="3108960" cy="1554480"/>
          </a:xfrm>
          <a:prstGeom prst="rect">
            <a:avLst/>
          </a:prstGeom>
          <a:noFill/>
          <a:ln/>
        </p:spPr>
        <p:txBody>
          <a:bodyPr wrap="square" lIns="0" tIns="0" rIns="0" bIns="0" rtlCol="0" anchor="t"/>
          <a:lstStyle/>
          <a:p>
            <a:pPr marL="0" indent="0">
              <a:buNone/>
            </a:pPr>
            <a:r>
              <a:rPr lang="en-US" sz="1500" dirty="0">
                <a:solidFill>
                  <a:schemeClr val="tx1"/>
                </a:solidFill>
              </a:rPr>
              <a:t>A predominant-use estimate, only about 3% of built-up. Residential is a residual (total minus non-residential).</a:t>
            </a:r>
            <a:endParaRPr lang="en-US" sz="1500" dirty="0"/>
          </a:p>
        </p:txBody>
      </p:sp>
      <p:sp>
        <p:nvSpPr>
          <p:cNvPr id="16" name="lim5"/>
          <p:cNvSpPr/>
          <p:nvPr/>
        </p:nvSpPr>
        <p:spPr>
          <a:xfrm>
            <a:off x="4389120" y="3794760"/>
            <a:ext cx="3566160" cy="2286000"/>
          </a:xfrm>
          <a:prstGeom prst="roundRect">
            <a:avLst>
              <a:gd name="adj" fmla="val 32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17" name="Text 14"/>
          <p:cNvSpPr txBox="1"/>
          <p:nvPr/>
        </p:nvSpPr>
        <p:spPr>
          <a:xfrm>
            <a:off x="4617720" y="3931920"/>
            <a:ext cx="3108960" cy="411480"/>
          </a:xfrm>
          <a:prstGeom prst="rect">
            <a:avLst/>
          </a:prstGeom>
          <a:noFill/>
          <a:ln/>
        </p:spPr>
        <p:txBody>
          <a:bodyPr wrap="square" lIns="0" tIns="0" rIns="0" bIns="0" rtlCol="0" anchor="t"/>
          <a:lstStyle/>
          <a:p>
            <a:pPr marL="0" indent="0">
              <a:buNone/>
            </a:pPr>
            <a:r>
              <a:rPr lang="en-US" sz="1800" b="1" dirty="0">
                <a:solidFill>
                  <a:schemeClr val="accent1"/>
                </a:solidFill>
              </a:rPr>
              <a:t>Boundaries</a:t>
            </a:r>
            <a:endParaRPr lang="en-US" sz="1800" dirty="0"/>
          </a:p>
        </p:txBody>
      </p:sp>
      <p:sp>
        <p:nvSpPr>
          <p:cNvPr id="18" name="Text 15"/>
          <p:cNvSpPr txBox="1"/>
          <p:nvPr/>
        </p:nvSpPr>
        <p:spPr>
          <a:xfrm>
            <a:off x="4617720" y="4434840"/>
            <a:ext cx="3108960" cy="1554480"/>
          </a:xfrm>
          <a:prstGeom prst="rect">
            <a:avLst/>
          </a:prstGeom>
          <a:noFill/>
          <a:ln/>
        </p:spPr>
        <p:txBody>
          <a:bodyPr wrap="square" lIns="0" tIns="0" rIns="0" bIns="0" rtlCol="0" anchor="t"/>
          <a:lstStyle/>
          <a:p>
            <a:pPr marL="0" indent="0">
              <a:buNone/>
            </a:pPr>
            <a:r>
              <a:rPr lang="en-US" sz="1500" dirty="0">
                <a:solidFill>
                  <a:schemeClr val="tx1"/>
                </a:solidFill>
              </a:rPr>
              <a:t>City (SBM ULB) and district (FAO GAUL 2015) differ in source and date. Their results are compared, not added.</a:t>
            </a:r>
            <a:endParaRPr lang="en-US" sz="1500" dirty="0"/>
          </a:p>
        </p:txBody>
      </p:sp>
      <p:sp>
        <p:nvSpPr>
          <p:cNvPr id="19" name="lim6"/>
          <p:cNvSpPr/>
          <p:nvPr/>
        </p:nvSpPr>
        <p:spPr>
          <a:xfrm>
            <a:off x="8229600" y="3794760"/>
            <a:ext cx="3566160" cy="2286000"/>
          </a:xfrm>
          <a:prstGeom prst="roundRect">
            <a:avLst>
              <a:gd name="adj" fmla="val 32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sp>
      <p:sp>
        <p:nvSpPr>
          <p:cNvPr id="20" name="Text 17"/>
          <p:cNvSpPr txBox="1"/>
          <p:nvPr/>
        </p:nvSpPr>
        <p:spPr>
          <a:xfrm>
            <a:off x="8458200" y="3931920"/>
            <a:ext cx="3108960" cy="411480"/>
          </a:xfrm>
          <a:prstGeom prst="rect">
            <a:avLst/>
          </a:prstGeom>
          <a:noFill/>
          <a:ln/>
        </p:spPr>
        <p:txBody>
          <a:bodyPr wrap="square" lIns="0" tIns="0" rIns="0" bIns="0" rtlCol="0" anchor="t"/>
          <a:lstStyle/>
          <a:p>
            <a:pPr marL="0" indent="0">
              <a:buNone/>
            </a:pPr>
            <a:r>
              <a:rPr lang="en-US" sz="1800" b="1" dirty="0">
                <a:solidFill>
                  <a:schemeClr val="accent1"/>
                </a:solidFill>
              </a:rPr>
              <a:t>Validation</a:t>
            </a:r>
            <a:endParaRPr lang="en-US" sz="1800" dirty="0"/>
          </a:p>
        </p:txBody>
      </p:sp>
      <p:sp>
        <p:nvSpPr>
          <p:cNvPr id="21" name="Text 18"/>
          <p:cNvSpPr txBox="1"/>
          <p:nvPr/>
        </p:nvSpPr>
        <p:spPr>
          <a:xfrm>
            <a:off x="8458200" y="4434840"/>
            <a:ext cx="3108960" cy="1554480"/>
          </a:xfrm>
          <a:prstGeom prst="rect">
            <a:avLst/>
          </a:prstGeom>
          <a:noFill/>
          <a:ln/>
        </p:spPr>
        <p:txBody>
          <a:bodyPr wrap="square" lIns="0" tIns="0" rIns="0" bIns="0" rtlCol="0" anchor="t"/>
          <a:lstStyle/>
          <a:p>
            <a:pPr marL="0" indent="0">
              <a:buNone/>
            </a:pPr>
            <a:r>
              <a:rPr lang="en-US" sz="1500" dirty="0">
                <a:solidFill>
                  <a:schemeClr val="tx1"/>
                </a:solidFill>
              </a:rPr>
              <a:t>No ground validation or field survey. Runs differ slightly between outputs (district gain 77.18 vs 77.44 km², under 0.4%).</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200" b="1" dirty="0">
                <a:solidFill>
                  <a:schemeClr val="bg1"/>
                </a:solidFill>
              </a:rPr>
              <a:t>Conclusions and sources</a:t>
            </a:r>
            <a:endParaRPr lang="en-US" sz="3200" dirty="0"/>
          </a:p>
        </p:txBody>
      </p:sp>
      <p:sp>
        <p:nvSpPr>
          <p:cNvPr id="4" name="conNum1"/>
          <p:cNvSpPr/>
          <p:nvPr/>
        </p:nvSpPr>
        <p:spPr>
          <a:xfrm>
            <a:off x="548640" y="1645920"/>
            <a:ext cx="457200" cy="457200"/>
          </a:xfrm>
          <a:prstGeom prst="ellipse">
            <a:avLst/>
          </a:prstGeom>
          <a:solidFill>
            <a:schemeClr val="accent1"/>
          </a:solidFill>
          <a:ln w="12700">
            <a:solidFill>
              <a:schemeClr val="accent1"/>
            </a:solidFill>
            <a:prstDash val="solid"/>
          </a:ln>
        </p:spPr>
      </p:sp>
      <p:sp>
        <p:nvSpPr>
          <p:cNvPr id="5" name="Text 2"/>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 3"/>
          <p:cNvSpPr txBox="1"/>
          <p:nvPr/>
        </p:nvSpPr>
        <p:spPr>
          <a:xfrm>
            <a:off x="1188720" y="1371600"/>
            <a:ext cx="5120640" cy="1005840"/>
          </a:xfrm>
          <a:prstGeom prst="rect">
            <a:avLst/>
          </a:prstGeom>
          <a:noFill/>
          <a:ln/>
        </p:spPr>
        <p:txBody>
          <a:bodyPr wrap="square" lIns="0" tIns="0" rIns="0" bIns="0" rtlCol="0" anchor="ctr"/>
          <a:lstStyle/>
          <a:p>
            <a:pPr marL="0" indent="0">
              <a:buNone/>
            </a:pPr>
            <a:r>
              <a:rPr lang="en-US" sz="1800" dirty="0">
                <a:solidFill>
                  <a:schemeClr val="bg1"/>
                </a:solidFill>
              </a:rPr>
              <a:t>Municipal built-up surface grew 55.4 → 78.1 km² (+40.9%).</a:t>
            </a:r>
            <a:endParaRPr lang="en-US" sz="1800" dirty="0"/>
          </a:p>
        </p:txBody>
      </p:sp>
      <p:sp>
        <p:nvSpPr>
          <p:cNvPr id="7" name="conNum2"/>
          <p:cNvSpPr/>
          <p:nvPr/>
        </p:nvSpPr>
        <p:spPr>
          <a:xfrm>
            <a:off x="548640" y="2834640"/>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548640" y="283464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Text 6"/>
          <p:cNvSpPr txBox="1"/>
          <p:nvPr/>
        </p:nvSpPr>
        <p:spPr>
          <a:xfrm>
            <a:off x="1188720" y="2560320"/>
            <a:ext cx="5120640" cy="1005840"/>
          </a:xfrm>
          <a:prstGeom prst="rect">
            <a:avLst/>
          </a:prstGeom>
          <a:noFill/>
          <a:ln/>
        </p:spPr>
        <p:txBody>
          <a:bodyPr wrap="square" lIns="0" tIns="0" rIns="0" bIns="0" rtlCol="0" anchor="ctr"/>
          <a:lstStyle/>
          <a:p>
            <a:pPr marL="0" indent="0">
              <a:buNone/>
            </a:pPr>
            <a:r>
              <a:rPr lang="en-US" sz="1800" dirty="0">
                <a:solidFill>
                  <a:schemeClr val="bg1"/>
                </a:solidFill>
              </a:rPr>
              <a:t>Non-residential grew +34.4% and is only about 3% of built-up; share 3.46 → 3.30%.</a:t>
            </a:r>
            <a:endParaRPr lang="en-US" sz="1800" dirty="0"/>
          </a:p>
        </p:txBody>
      </p:sp>
      <p:sp>
        <p:nvSpPr>
          <p:cNvPr id="10" name="conNum3"/>
          <p:cNvSpPr/>
          <p:nvPr/>
        </p:nvSpPr>
        <p:spPr>
          <a:xfrm>
            <a:off x="548640" y="4023360"/>
            <a:ext cx="457200" cy="457200"/>
          </a:xfrm>
          <a:prstGeom prst="ellipse">
            <a:avLst/>
          </a:prstGeom>
          <a:solidFill>
            <a:schemeClr val="accent1"/>
          </a:solidFill>
          <a:ln w="12700">
            <a:solidFill>
              <a:schemeClr val="accent1"/>
            </a:solidFill>
            <a:prstDash val="solid"/>
          </a:ln>
        </p:spPr>
      </p:sp>
      <p:sp>
        <p:nvSpPr>
          <p:cNvPr id="11" name="Text 8"/>
          <p:cNvSpPr txBox="1"/>
          <p:nvPr/>
        </p:nvSpPr>
        <p:spPr>
          <a:xfrm>
            <a:off x="548640" y="402336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2" name="Text 9"/>
          <p:cNvSpPr txBox="1"/>
          <p:nvPr/>
        </p:nvSpPr>
        <p:spPr>
          <a:xfrm>
            <a:off x="1188720" y="3749040"/>
            <a:ext cx="5120640" cy="1005840"/>
          </a:xfrm>
          <a:prstGeom prst="rect">
            <a:avLst/>
          </a:prstGeom>
          <a:noFill/>
          <a:ln/>
        </p:spPr>
        <p:txBody>
          <a:bodyPr wrap="square" lIns="0" tIns="0" rIns="0" bIns="0" rtlCol="0" anchor="ctr"/>
          <a:lstStyle/>
          <a:p>
            <a:pPr marL="0" indent="0">
              <a:buNone/>
            </a:pPr>
            <a:r>
              <a:rPr lang="en-US" sz="1800" dirty="0">
                <a:solidFill>
                  <a:schemeClr val="bg1"/>
                </a:solidFill>
              </a:rPr>
              <a:t>Gains are widespread, strongest in the north-central and eastern city.</a:t>
            </a:r>
            <a:endParaRPr lang="en-US" sz="1800" dirty="0"/>
          </a:p>
        </p:txBody>
      </p:sp>
      <p:sp>
        <p:nvSpPr>
          <p:cNvPr id="13" name="conNum4"/>
          <p:cNvSpPr/>
          <p:nvPr/>
        </p:nvSpPr>
        <p:spPr>
          <a:xfrm>
            <a:off x="548640" y="5212080"/>
            <a:ext cx="457200" cy="457200"/>
          </a:xfrm>
          <a:prstGeom prst="ellipse">
            <a:avLst/>
          </a:prstGeom>
          <a:solidFill>
            <a:schemeClr val="accent1"/>
          </a:solidFill>
          <a:ln w="12700">
            <a:solidFill>
              <a:schemeClr val="accent1"/>
            </a:solidFill>
            <a:prstDash val="solid"/>
          </a:ln>
        </p:spPr>
      </p:sp>
      <p:sp>
        <p:nvSpPr>
          <p:cNvPr id="14" name="Text 11"/>
          <p:cNvSpPr txBox="1"/>
          <p:nvPr/>
        </p:nvSpPr>
        <p:spPr>
          <a:xfrm>
            <a:off x="548640" y="5212080"/>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5" name="Text 12"/>
          <p:cNvSpPr txBox="1"/>
          <p:nvPr/>
        </p:nvSpPr>
        <p:spPr>
          <a:xfrm>
            <a:off x="1188720" y="4937760"/>
            <a:ext cx="5120640" cy="1005840"/>
          </a:xfrm>
          <a:prstGeom prst="rect">
            <a:avLst/>
          </a:prstGeom>
          <a:noFill/>
          <a:ln/>
        </p:spPr>
        <p:txBody>
          <a:bodyPr wrap="square" lIns="0" tIns="0" rIns="0" bIns="0" rtlCol="0" anchor="ctr"/>
          <a:lstStyle/>
          <a:p>
            <a:pPr marL="0" indent="0">
              <a:buNone/>
            </a:pPr>
            <a:r>
              <a:rPr lang="en-US" sz="1800" dirty="0">
                <a:solidFill>
                  <a:schemeClr val="bg1"/>
                </a:solidFill>
              </a:rPr>
              <a:t>Growth is shifting beyond the city: district 74.7 → 152.2 km².</a:t>
            </a:r>
            <a:endParaRPr lang="en-US" sz="1800" dirty="0"/>
          </a:p>
        </p:txBody>
      </p:sp>
      <p:sp>
        <p:nvSpPr>
          <p:cNvPr id="16" name="srcCard"/>
          <p:cNvSpPr/>
          <p:nvPr/>
        </p:nvSpPr>
        <p:spPr>
          <a:xfrm>
            <a:off x="6780245" y="41521"/>
            <a:ext cx="4846320" cy="2608373"/>
          </a:xfrm>
          <a:prstGeom prst="roundRect">
            <a:avLst>
              <a:gd name="adj" fmla="val 1538"/>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sp>
      <p:sp>
        <p:nvSpPr>
          <p:cNvPr id="17" name="Text 14"/>
          <p:cNvSpPr txBox="1"/>
          <p:nvPr/>
        </p:nvSpPr>
        <p:spPr>
          <a:xfrm>
            <a:off x="7022219" y="88641"/>
            <a:ext cx="4445104" cy="1282959"/>
          </a:xfrm>
          <a:prstGeom prst="rect">
            <a:avLst/>
          </a:prstGeom>
          <a:noFill/>
          <a:ln/>
        </p:spPr>
        <p:txBody>
          <a:bodyPr wrap="square" lIns="0" tIns="0" rIns="0" bIns="0" rtlCol="0" anchor="t"/>
          <a:lstStyle/>
          <a:p>
            <a:pPr marL="0" indent="0">
              <a:buNone/>
            </a:pPr>
            <a:r>
              <a:rPr lang="en-US" sz="1600" b="1" dirty="0">
                <a:solidFill>
                  <a:schemeClr val="accent4"/>
                </a:solidFill>
              </a:rPr>
              <a:t>Sources</a:t>
            </a:r>
            <a:endParaRPr lang="en-US" sz="1600" dirty="0"/>
          </a:p>
        </p:txBody>
      </p:sp>
      <p:sp>
        <p:nvSpPr>
          <p:cNvPr id="18" name="Text 15"/>
          <p:cNvSpPr txBox="1"/>
          <p:nvPr/>
        </p:nvSpPr>
        <p:spPr>
          <a:xfrm>
            <a:off x="7330751" y="339634"/>
            <a:ext cx="4297680" cy="2222552"/>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1"/>
                </a:solidFill>
              </a:rPr>
              <a:t>Pesaresi, M. and Politis, P. (2023): GHS-BUILT-S R2023A, European Commission JRC. doi:10.2905/9F06F36F-4B11-47EC-ABB0-4F8B7B1D72EA</a:t>
            </a:r>
            <a:endParaRPr lang="en-US" sz="1400" dirty="0"/>
          </a:p>
          <a:p>
            <a:pPr marL="177800" indent="-177800">
              <a:spcAft>
                <a:spcPts val="800"/>
              </a:spcAft>
              <a:buSzPct val="100000"/>
              <a:buChar char="•"/>
            </a:pPr>
            <a:r>
              <a:rPr lang="en-US" sz="1400" dirty="0">
                <a:solidFill>
                  <a:schemeClr val="bg1"/>
                </a:solidFill>
              </a:rPr>
              <a:t>Google Earth Engine: JRC/GHSL/P2023A/GHS_BUILT_S</a:t>
            </a:r>
            <a:endParaRPr lang="en-US" sz="1400" dirty="0"/>
          </a:p>
          <a:p>
            <a:pPr marL="177800" indent="-177800">
              <a:spcAft>
                <a:spcPts val="800"/>
              </a:spcAft>
              <a:buSzPct val="100000"/>
              <a:buChar char="•"/>
            </a:pPr>
            <a:r>
              <a:rPr lang="en-US" sz="1400" dirty="0">
                <a:solidFill>
                  <a:schemeClr val="bg1"/>
                </a:solidFill>
              </a:rPr>
              <a:t>City boundary: Indian Urban Local Body boundaries (SBM, DataMeet / ramSeraph release, CC0)</a:t>
            </a:r>
            <a:endParaRPr lang="en-US" sz="1400" dirty="0"/>
          </a:p>
          <a:p>
            <a:pPr marL="177800" indent="-177800">
              <a:spcAft>
                <a:spcPts val="800"/>
              </a:spcAft>
              <a:buSzPct val="100000"/>
              <a:buChar char="•"/>
            </a:pPr>
            <a:r>
              <a:rPr lang="en-US" sz="1400" dirty="0">
                <a:solidFill>
                  <a:schemeClr val="bg1"/>
                </a:solidFill>
              </a:rPr>
              <a:t>District: FAO GAUL 2015 level 2</a:t>
            </a:r>
            <a:endParaRPr lang="en-US" sz="1400" dirty="0"/>
          </a:p>
          <a:p>
            <a:pPr marL="177800" indent="-177800">
              <a:spcAft>
                <a:spcPts val="800"/>
              </a:spcAft>
              <a:buSzPct val="100000"/>
              <a:buChar char="•"/>
            </a:pPr>
            <a:r>
              <a:rPr lang="en-US" sz="1400" dirty="0">
                <a:solidFill>
                  <a:schemeClr val="bg1"/>
                </a:solidFill>
              </a:rPr>
              <a:t>Basemap: © OpenStreetMap contributors</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
        <p:nvSpPr>
          <p:cNvPr id="3" name="TextBox 2">
            <a:hlinkClick r:id="rId3" action="ppaction://hlinkfile"/>
            <a:extLst>
              <a:ext uri="{FF2B5EF4-FFF2-40B4-BE49-F238E27FC236}">
                <a16:creationId xmlns:a16="http://schemas.microsoft.com/office/drawing/2014/main" id="{83C40767-B605-E0CF-C3C6-BCA80C4CB1FD}"/>
              </a:ext>
            </a:extLst>
          </p:cNvPr>
          <p:cNvSpPr txBox="1"/>
          <p:nvPr/>
        </p:nvSpPr>
        <p:spPr>
          <a:xfrm>
            <a:off x="6797040" y="2895063"/>
            <a:ext cx="4846320" cy="369332"/>
          </a:xfrm>
          <a:prstGeom prst="rect">
            <a:avLst/>
          </a:prstGeom>
          <a:noFill/>
        </p:spPr>
        <p:txBody>
          <a:bodyPr wrap="square" rtlCol="0">
            <a:spAutoFit/>
          </a:bodyPr>
          <a:lstStyle/>
          <a:p>
            <a:r>
              <a:rPr lang="en-IN" dirty="0">
                <a:solidFill>
                  <a:srgbClr val="FF0000"/>
                </a:solidFill>
              </a:rPr>
              <a:t>Download  Lucknow- GHSL -statistics</a:t>
            </a:r>
          </a:p>
        </p:txBody>
      </p:sp>
      <p:sp>
        <p:nvSpPr>
          <p:cNvPr id="19" name="TextBox 18">
            <a:hlinkClick r:id="rId4" action="ppaction://hlinkfile"/>
            <a:extLst>
              <a:ext uri="{FF2B5EF4-FFF2-40B4-BE49-F238E27FC236}">
                <a16:creationId xmlns:a16="http://schemas.microsoft.com/office/drawing/2014/main" id="{A1243B0A-FD12-B608-6C78-AE8028BF6BA5}"/>
              </a:ext>
            </a:extLst>
          </p:cNvPr>
          <p:cNvSpPr txBox="1"/>
          <p:nvPr/>
        </p:nvSpPr>
        <p:spPr>
          <a:xfrm>
            <a:off x="7097486" y="4184393"/>
            <a:ext cx="4369837" cy="369332"/>
          </a:xfrm>
          <a:prstGeom prst="rect">
            <a:avLst/>
          </a:prstGeom>
          <a:noFill/>
        </p:spPr>
        <p:txBody>
          <a:bodyPr wrap="square" rtlCol="0">
            <a:spAutoFit/>
          </a:bodyPr>
          <a:lstStyle/>
          <a:p>
            <a:r>
              <a:rPr lang="en-IN" dirty="0">
                <a:solidFill>
                  <a:srgbClr val="FF0000"/>
                </a:solidFill>
              </a:rPr>
              <a:t>Download ward statistics</a:t>
            </a:r>
          </a:p>
        </p:txBody>
      </p:sp>
    </p:spTree>
  </p:cSld>
  <p:clrMapOvr>
    <a:masterClrMapping/>
  </p:clrMapOvr>
</p:sld>
</file>

<file path=ppt/theme/theme1.xml><?xml version="1.0" encoding="utf-8"?>
<a:theme xmlns:a="http://schemas.openxmlformats.org/drawingml/2006/main" name="Lucknow Built-up">
  <a:themeElements>
    <a:clrScheme name="Lucknow Built-up">
      <a:dk1>
        <a:srgbClr val="1B1B2F"/>
      </a:dk1>
      <a:lt1>
        <a:srgbClr val="FFFFFF"/>
      </a:lt1>
      <a:dk2>
        <a:srgbClr val="050709"/>
      </a:dk2>
      <a:lt2>
        <a:srgbClr val="F3F2F7"/>
      </a:lt2>
      <a:accent1>
        <a:srgbClr val="D9381E"/>
      </a:accent1>
      <a:accent2>
        <a:srgbClr val="6A3D9A"/>
      </a:accent2>
      <a:accent3>
        <a:srgbClr val="F28E2B"/>
      </a:accent3>
      <a:accent4>
        <a:srgbClr val="FDAE6B"/>
      </a:accent4>
      <a:accent5>
        <a:srgbClr val="2F7F95"/>
      </a:accent5>
      <a:accent6>
        <a:srgbClr val="8A8FA3"/>
      </a:accent6>
      <a:hlink>
        <a:srgbClr val="6A3D9A"/>
      </a:hlink>
      <a:folHlink>
        <a:srgbClr val="8A8FA3"/>
      </a:folHlink>
    </a:clrScheme>
    <a:fontScheme name="Lucknow Built-u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TotalTime>
  <Words>3817</Words>
  <Application>Microsoft Office PowerPoint</Application>
  <PresentationFormat>Widescreen</PresentationFormat>
  <Paragraphs>401</Paragraphs>
  <Slides>24</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Consolas</vt:lpstr>
      <vt:lpstr>Lucknow Built-up</vt:lpstr>
      <vt:lpstr>Built-up Surface Change in Lucknow, 2000–2020</vt:lpstr>
      <vt:lpstr>The question and what this deck delivers</vt:lpstr>
      <vt:lpstr>Summary of results: municipal area, 2000 to 2020</vt:lpstr>
      <vt:lpstr>Study area and boundary</vt:lpstr>
      <vt:lpstr>PowerPoint Presentation</vt:lpstr>
      <vt:lpstr>PowerPoint Presentation</vt:lpstr>
      <vt:lpstr>Dataset: GHSL Built-up Surface</vt:lpstr>
      <vt:lpstr>Method workflow in Google Earth Engine</vt:lpstr>
      <vt:lpstr>Built-up surface by epoch: municipal area</vt:lpstr>
      <vt:lpstr>Total built-up surface grew in every interval</vt:lpstr>
      <vt:lpstr>PowerPoint Presentation</vt:lpstr>
      <vt:lpstr>Non-residential built-up surface is small and stable</vt:lpstr>
      <vt:lpstr>PowerPoint Presentation</vt:lpstr>
      <vt:lpstr>Total vs non-residential growth</vt:lpstr>
      <vt:lpstr>Built-up surface maps by epoch</vt:lpstr>
      <vt:lpstr>Dynamic output: built-up surface through time</vt:lpstr>
      <vt:lpstr>Where did built-up surface grow? 2 km grid</vt:lpstr>
      <vt:lpstr>Change maps: total vs non-residential, 2000–2020</vt:lpstr>
      <vt:lpstr>Cell-level gain statistics: municipal area</vt:lpstr>
      <vt:lpstr>Where is non-residential surface concentrated?</vt:lpstr>
      <vt:lpstr>Growth is moving beyond the city limits</vt:lpstr>
      <vt:lpstr>Discussion</vt:lpstr>
      <vt:lpstr>Limitations</vt:lpstr>
      <vt:lpstr>Conclusions and sources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Lucknow built-up surface change 2000-2020 (HS524M Q2)</dc:title>
  <dc:subject>PptxGenJS Presentation</dc:subject>
  <dc:creator>HS524M Test 2</dc:creator>
  <cp:lastModifiedBy>Yadvendra singh yadav</cp:lastModifiedBy>
  <cp:revision>2</cp:revision>
  <dcterms:created xsi:type="dcterms:W3CDTF">2026-10-13T04:58:20Z</dcterms:created>
  <dcterms:modified xsi:type="dcterms:W3CDTF">2026-10-13T09:17:56Z</dcterms:modified>
</cp:coreProperties>
</file>